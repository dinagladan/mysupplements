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76A9F"/>
    <a:srgbClr val="E2F2EF"/>
    <a:srgbClr val="ECE7F9"/>
    <a:srgbClr val="F2F5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39" d="100"/>
          <a:sy n="39" d="100"/>
        </p:scale>
        <p:origin x="60" y="10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A2420"/>
                </a:solidFill>
                <a:latin typeface="Arial"/>
              </a:defRPr>
            </a:pPr>
            <a:r>
              <a:rPr lang="pl-PL" sz="1200" b="0" i="0" u="none" strike="noStrike">
                <a:solidFill>
                  <a:srgbClr val="1A2420"/>
                </a:solidFill>
                <a:latin typeface="Arial"/>
              </a:rPr>
              <a:t>Parsiranje: latencija po zahtjevu (s) — niže je bolje</a:t>
            </a:r>
          </a:p>
        </c:rich>
      </c:tx>
      <c:overlay val="0"/>
    </c:title>
    <c:autoTitleDeleted val="0"/>
    <c:plotArea>
      <c:layout/>
      <c:barChart>
        <c:barDir val="bar"/>
        <c:grouping val="clustered"/>
        <c:varyColors val="0"/>
        <c:ser>
          <c:idx val="0"/>
          <c:order val="0"/>
          <c:tx>
            <c:strRef>
              <c:f>Sheet1!$B$1</c:f>
              <c:strCache>
                <c:ptCount val="1"/>
                <c:pt idx="0">
                  <c:v>Latencija po zahtjevu (s)</c:v>
                </c:pt>
              </c:strCache>
            </c:strRef>
          </c:tx>
          <c:spPr>
            <a:solidFill>
              <a:srgbClr val="0D9488"/>
            </a:solidFill>
            <a:effectLst/>
          </c:spPr>
          <c:invertIfNegative val="0"/>
          <c:dLbls>
            <c:numFmt formatCode="0.0" sourceLinked="0"/>
            <c:spPr>
              <a:noFill/>
              <a:ln>
                <a:noFill/>
              </a:ln>
              <a:effectLst/>
            </c:spPr>
            <c:txPr>
              <a:bodyPr/>
              <a:lstStyle/>
              <a:p>
                <a:pPr>
                  <a:defRPr sz="1100" b="0" i="0" u="none" strike="noStrike">
                    <a:solidFill>
                      <a:srgbClr val="1A24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Llama 3 (8,0 B)</c:v>
                </c:pt>
                <c:pt idx="1">
                  <c:v>Llama 3.2 (3,2 B)</c:v>
                </c:pt>
                <c:pt idx="2">
                  <c:v>Qwen 2.5 (3,1 B)</c:v>
                </c:pt>
                <c:pt idx="3">
                  <c:v>Llama 3.2 (1,2 B)</c:v>
                </c:pt>
              </c:strCache>
            </c:strRef>
          </c:cat>
          <c:val>
            <c:numRef>
              <c:f>Sheet1!$B$2:$B$5</c:f>
              <c:numCache>
                <c:formatCode>General</c:formatCode>
                <c:ptCount val="4"/>
                <c:pt idx="0">
                  <c:v>25.6</c:v>
                </c:pt>
                <c:pt idx="1">
                  <c:v>15.8</c:v>
                </c:pt>
                <c:pt idx="2">
                  <c:v>11.9</c:v>
                </c:pt>
                <c:pt idx="3">
                  <c:v>11.2</c:v>
                </c:pt>
              </c:numCache>
            </c:numRef>
          </c:val>
          <c:extLst>
            <c:ext xmlns:c16="http://schemas.microsoft.com/office/drawing/2014/chart" uri="{C3380CC4-5D6E-409C-BE32-E72D297353CC}">
              <c16:uniqueId val="{00000000-0638-4378-A962-9C442B9A119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42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3E9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D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625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Dobar dan svima. Ja sam Dina Gladan i danas ću predstaviti svoj završni rad pod naslovom „Razvoj i implementacija inteligentnog sustava za personaliziranu preporuku dodataka prehrani”, izrađen pod mentorstvom prof. dr. sc. Ane Kuzmanić Skelin. Praktični dio rada je backend sustav koji sam nazvala MySupplements.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Krenimo od problema. Odabir dodatka prehrani za prosječnog je korisnika zbunjujuć: informacije su raspršene, marketinške tvrdnje pretjerane, a hoće li neki dodatak uopće imati smisla ovisi o vrlo osobnim stvarima — koliko spavamo, koliko smo pod stresom, kako se hranimo. S druge strane, veliki jezični modeli danas omogućuju da korisnik sve to opiše običnim rečenicama, bez upitnika. Ali tu je i kvaka: jezični modeli znaju generirati uvjerljive, a netočne odgovore. U domeni povezanoj sa zdravljem to je neprihvatljivo. Dakle, pitanje mog rada je: kako iskoristiti praktičnost jezičnog modela, a da odluke ostanu pouzdane i provjerljive?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Cilj rada je razviti backend sustav koji iz slobodnog teksta korisnika generira rangirane preporuke dodataka prehrani. Ključno pravilo dizajna, koje se provlači kroz cijeli rad, glasi: jezični model nikada ne odabire dodatke. Model radi samo dvije jezične stvari — pretvara tekst korisnika u strukturirane podatke i na kraju sroči objašnjenje. Sama odluka, dakle bodovanje i rangiranje, u potpunosti je deterministička i temelji se na pravilima. Time za isti ulaz uvijek dobijemo isti izlaz, svaku preporuku možemo objasniti, i ništa ne može biti izmišljeno.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Sustav je implementiran u Pythonu 3.13. Web sloj je FastAPI s Uvicorn poslužiteljem, koji automatski generira Swagger dokumentaciju. Podaci su u PostgreSQL bazi, kojoj pristupam preko SQLAlchemy ORM-a. Pydantic sheme validiraju sve podatke, uključujući izlaz jezičnog modela. Jezični modeli se izvršavaju lokalno kroz Ollamu — koristila sam Llamu 3 i Qwen 2.5 — a ispravnost koda provjerava 45 pytest testova.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Sustav je organiziran slojevito, kao na dijagramu. API sloj prima HTTP zahtjeve; sloj shema i validacije definira strukturu svih podataka; servisni sloj sadrži poslovnu logiku — parsere, bodovanje, motor preporuka i objašnjenja; repozitorijski sloj jedini izvršava upite; a PostgreSQL čuva bazu znanja. Posebno bih istaknula komunikacijski sloj s jezičnim modelom: sva komunikacija s Ollamom prolazi kroz jednu jedinu datoteku, llm_client. Zato model mogu zamijeniti drugim jednom konfiguracijskom varijablom, bez ikakvih izmjena u ostatku sustava. Svaki sloj ima jednu odgovornost, što je sustav učinilo lako testabilnim.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Ovako izgleda obrada jednog zahtjeva na glavnoj krajnjoj točki /recommend. Korisnik pošalje dva slobodna teksta — profil i ciljeve. Jezični model, ljubičasti koraci, parsira ih u JSON. Zatim validacija: Pydantic sheme i bijele liste odbacuju sve neispravne vrijednosti. Slijedi plava, deterministička jezgra: motor preporuka učita svih 35 dodataka i boduje svaki od njih, odbaci one ispod praga, sortira i zadrži najboljih pet. Na kraju se generira objašnjenje — zadano determinističkim predloškom, a po želji jezičnim modelom — i sve se vraća kao jedan JSON odgovor. Poanta dijagrama: jezični model pojavljuje se samo na rubu toka, sve što odlučuje je običan, provjerljiv kod.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Baza znanja je jedna PostgreSQL tablica s 35 dodataka prehrani. Osim naziva i opisa, svaki redak nosi atribute bodovanja u JSON stupcima — koje ciljeve dodatak podržava, koliko bodova nosi koje stanje korisnika, način života, prehrana, rizik nedostatka, te kazne s upozorenjima. Na primjeru magnezija: loš san donosi tri boda, visok stres tri. Bitna posljedica ovakvog dizajna: znanje je u podacima, a ne u kodu. Novi dodatak ili druga pravila znače samo novi redak u bazi — nijedna linija koda se ne mijenja. Korisnički podaci se pritom nigdje ne spremaju.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Srce rada je bodovanje. Svako popunjeno polje profila pretvori se u token oblika polje:vrijednost, na primjer sleep_quality:poor. Ti se tokeni traže u JSON rječnicima svakog dodatka. Ukupni rezultat je zbroj šest kategorija: podudaranje ciljeva nosi dva boda po cilju, zatim stanje, način života, prehrana i rizik nedostatka, a kazne se oduzimaju i nose upozorenja. Dodatak ispod praga od četiri boda uopće se ne prikazuje — sustav radije šuti nego nagađa. Preostali se sortiraju i vraća se najboljih pet, svaki s oznakom snage i s popisom razloga, tako da se svaki bod može objasniti. Na primjeru: L-teanin dobije dva boda za cilj, tri za stanje i dva za kofein — ukupno sedam, vrlo relevantan.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Jezični model obavlja točno tri zadatka: parsiranje profila, parsiranje ciljeva i generiranje objašnjenja. Budući da je model nepouzdana komponenta, oko njega je više slojeva obrane. Prompt smije vratiti samo JSON i null za sve što nije navedeno; opcija format json prisiljava sintaktički ispravan JSON; funkcija ekstrakcije izvlači JSON i iz „prljavog” odgovora; neuspjeli poziv ponavlja se do tri puta; a vremenska ograničenja štite od zamrzavanja. Ako sve to zakaže, parseri vraćaju prazan profil umjesto rušenja, a objašnjenje preuzima deterministički predložak. Model je, dakle, ubrzivač korisničkog iskustva, a nikada jedina točka otkaza.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Sustav je provjeren na dvije razine. Prvo, 45 automatiziranih testova provjerava ispravnost koda — i svi prolaze za manje od pola sekunde, bez baze i bez jezičnog modela, jer se te ovisnosti u testovima zamjenjuju lažnim objektima. Drugo, kvantitativna evaluacija na devet označenih scenarija mjeri kvalitetu: recall@5 je 100 posto, svih devet scenarija pogođeno, nula zabranjenih preporuka — na primjer, veganu kolagen ispravno ispada zbog kazne. Parsiranje jezičnim modelom postiže F1 od 100 posto na ciljevima i 85,7 posto točnosti polja profila. Zanimljivo, evaluacija je otkrila i stvarnu grešku u validaciji, koju sam ispravila i pokrila regresijskim testom.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Kvaliteta je bila odlična, ali brzina nije: s Llamom 3 zahtjev je u prosjeku trajao 165 sekundi. Mjerenja su pokazala da najveći dio vremena odlazi na generiranje objašnjenja jezičnim modelom. Zato je zadano objašnjenje sada deterministički predložak, a LLM objašnjenje je opcija — čime je zahtjev pao na 22 sekunde, uz identične preporuke. Zatim sam usporedila četiri lokalna modela na stvarnom zadatku parsiranja. Manji modeli su očekivano brži, ali ispod određene veličine točnost se ruši: model od milijardu parametara ima samo 20 posto točnosti. Najbolji omjer daje Qwen 2.5 od tri milijarde parametara — puna točnost, 2,2 puta brže od Llame 3 — čime bi zahtjev pao na oko 12 sekundi, ukupno red veličine brže od početka.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 kraj, stvarni primjer iz pokrenutog sustava. Korisnica napiše da ima 23 godine, vegetarijanka je, spava osrednje, često je pod stresom, umorna je, pije puno kave i malo je na suncu; ciljevi su bolji san, više energije i manje stresa. Sustav vraća pet preporuka. Zanimljivo je da je L-teanin prvi iako pogađa samo jedan cilj — zato što konkretno stanje korisnice, stres, problemi s fokusom i puno kofeina, nosi više dokaza nego sama deklaracija cilja. Magnezij pogađa dva cilja, ali je niže jer san nije loš nego osrednji. Vegetarijanska prehrana podiže B-vitamine. Svaki od ovih bodova sustav zna obrazložiti.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Zaključno: izgrađen je cjelovit backend sustav koji ostvaruje sve postavljene zahtjeve — od REST sučelja i baze znanja do bodovanja, objašnjenja i evaluacije, s mjerljivim rezultatima koje sam prikazala. Širi zaključak rada je da u osjetljivim domenama jezične modele ima smisla držati na rubu sustava, kao prevoditelje i prezentere, dok jezgra odlučivanja ostaje deterministička i objašnjiva. Za budući rad planiram bogatija pravila, veću i stručno pregledanu bazu, korisničke račune s poviješću te postavljanje na poslužitelj.</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Hvala na pažnji! Stojim na raspolaganju za pitanja, a sustav mogu i uživo pokazati kroz Swagger sučelje.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925"/>
        </a:solidFill>
        <a:effectLst/>
      </p:bgPr>
    </p:bg>
    <p:spTree>
      <p:nvGrpSpPr>
        <p:cNvPr id="1" name=""/>
        <p:cNvGrpSpPr/>
        <p:nvPr/>
      </p:nvGrpSpPr>
      <p:grpSpPr>
        <a:xfrm>
          <a:off x="0" y="0"/>
          <a:ext cx="0" cy="0"/>
          <a:chOff x="0" y="0"/>
          <a:chExt cx="0" cy="0"/>
        </a:xfrm>
      </p:grpSpPr>
      <p:sp>
        <p:nvSpPr>
          <p:cNvPr id="3" name="Text 0"/>
          <p:cNvSpPr/>
          <p:nvPr/>
        </p:nvSpPr>
        <p:spPr>
          <a:xfrm>
            <a:off x="548640" y="502920"/>
            <a:ext cx="11091672" cy="365760"/>
          </a:xfrm>
          <a:prstGeom prst="rect">
            <a:avLst/>
          </a:prstGeom>
          <a:noFill/>
          <a:ln/>
        </p:spPr>
        <p:txBody>
          <a:bodyPr wrap="square" lIns="0" tIns="0" rIns="0" bIns="0" rtlCol="0" anchor="ctr"/>
          <a:lstStyle/>
          <a:p>
            <a:pPr marL="0" indent="0" algn="ctr">
              <a:buNone/>
            </a:pPr>
            <a:r>
              <a:rPr lang="en-US" sz="1200" kern="0" spc="200" dirty="0">
                <a:solidFill>
                  <a:srgbClr val="9FBAB5"/>
                </a:solidFill>
                <a:latin typeface="Calibri" pitchFamily="34" charset="0"/>
                <a:ea typeface="Calibri" pitchFamily="34" charset="-122"/>
                <a:cs typeface="Calibri" pitchFamily="34" charset="-120"/>
              </a:rPr>
              <a:t>SVEUČILIŠTE U SPLITU  -  FAKULTET ELEKTROTEHNIKE, STROJARSTVA I BRODOGRADNJE</a:t>
            </a:r>
            <a:endParaRPr lang="en-US" sz="1200" dirty="0"/>
          </a:p>
        </p:txBody>
      </p:sp>
      <p:sp>
        <p:nvSpPr>
          <p:cNvPr id="4" name="Shape 1"/>
          <p:cNvSpPr/>
          <p:nvPr/>
        </p:nvSpPr>
        <p:spPr>
          <a:xfrm>
            <a:off x="1081070" y="1371600"/>
            <a:ext cx="457200" cy="457200"/>
          </a:xfrm>
          <a:prstGeom prst="roundRect">
            <a:avLst>
              <a:gd name="adj" fmla="val 20000"/>
            </a:avLst>
          </a:prstGeom>
          <a:solidFill>
            <a:srgbClr val="0D9488"/>
          </a:solidFill>
          <a:ln/>
        </p:spPr>
      </p:sp>
      <p:sp>
        <p:nvSpPr>
          <p:cNvPr id="5" name="Shape 2"/>
          <p:cNvSpPr/>
          <p:nvPr/>
        </p:nvSpPr>
        <p:spPr>
          <a:xfrm>
            <a:off x="10782854" y="3383280"/>
            <a:ext cx="457200" cy="457200"/>
          </a:xfrm>
          <a:prstGeom prst="roundRect">
            <a:avLst>
              <a:gd name="adj" fmla="val 20000"/>
            </a:avLst>
          </a:prstGeom>
          <a:solidFill>
            <a:srgbClr val="6D4FC4"/>
          </a:solidFill>
          <a:ln/>
        </p:spPr>
      </p:sp>
      <p:sp>
        <p:nvSpPr>
          <p:cNvPr id="6" name="Text 3"/>
          <p:cNvSpPr/>
          <p:nvPr/>
        </p:nvSpPr>
        <p:spPr>
          <a:xfrm>
            <a:off x="1081070" y="1828800"/>
            <a:ext cx="10177272" cy="1554480"/>
          </a:xfrm>
          <a:prstGeom prst="rect">
            <a:avLst/>
          </a:prstGeom>
          <a:noFill/>
          <a:ln/>
        </p:spPr>
        <p:txBody>
          <a:bodyPr wrap="square" lIns="0" tIns="0" rIns="0" bIns="0" rtlCol="0" anchor="ctr"/>
          <a:lstStyle/>
          <a:p>
            <a:pPr marL="0" indent="0" algn="ctr">
              <a:buNone/>
            </a:pPr>
            <a:r>
              <a:rPr lang="en-US" sz="3100" b="1" dirty="0">
                <a:solidFill>
                  <a:srgbClr val="FFFFFF"/>
                </a:solidFill>
                <a:latin typeface="Calibri" pitchFamily="34" charset="0"/>
                <a:ea typeface="Calibri" pitchFamily="34" charset="-122"/>
                <a:cs typeface="Calibri" pitchFamily="34" charset="-120"/>
              </a:rPr>
              <a:t>Razvoj i implementacija inteligentnog sustava za personaliziranu preporuku dodataka prehrani</a:t>
            </a:r>
            <a:endParaRPr lang="en-US" sz="3100" dirty="0"/>
          </a:p>
        </p:txBody>
      </p:sp>
      <p:sp>
        <p:nvSpPr>
          <p:cNvPr id="7" name="Text 4"/>
          <p:cNvSpPr/>
          <p:nvPr/>
        </p:nvSpPr>
        <p:spPr>
          <a:xfrm>
            <a:off x="1005840" y="3794760"/>
            <a:ext cx="10177272" cy="457200"/>
          </a:xfrm>
          <a:prstGeom prst="rect">
            <a:avLst/>
          </a:prstGeom>
          <a:noFill/>
          <a:ln/>
        </p:spPr>
        <p:txBody>
          <a:bodyPr wrap="square" lIns="0" tIns="0" rIns="0" bIns="0" rtlCol="0" anchor="ctr"/>
          <a:lstStyle/>
          <a:p>
            <a:pPr marL="0" indent="0" algn="ctr">
              <a:buNone/>
            </a:pPr>
            <a:r>
              <a:rPr lang="en-US" sz="1800" dirty="0" err="1">
                <a:solidFill>
                  <a:srgbClr val="6FD1C3"/>
                </a:solidFill>
                <a:latin typeface="Calibri" pitchFamily="34" charset="0"/>
                <a:ea typeface="Calibri" pitchFamily="34" charset="-122"/>
                <a:cs typeface="Calibri" pitchFamily="34" charset="-120"/>
              </a:rPr>
              <a:t>MySupplements</a:t>
            </a:r>
            <a:r>
              <a:rPr lang="en-US" sz="1800" dirty="0">
                <a:solidFill>
                  <a:srgbClr val="6FD1C3"/>
                </a:solidFill>
                <a:latin typeface="Calibri" pitchFamily="34" charset="0"/>
                <a:ea typeface="Calibri" pitchFamily="34" charset="-122"/>
                <a:cs typeface="Calibri" pitchFamily="34" charset="-120"/>
              </a:rPr>
              <a:t>  -  završni rad</a:t>
            </a:r>
            <a:endParaRPr lang="en-US" sz="1800" dirty="0"/>
          </a:p>
        </p:txBody>
      </p:sp>
      <p:sp>
        <p:nvSpPr>
          <p:cNvPr id="8" name="Text 5"/>
          <p:cNvSpPr/>
          <p:nvPr/>
        </p:nvSpPr>
        <p:spPr>
          <a:xfrm>
            <a:off x="1005840" y="5029200"/>
            <a:ext cx="10177272"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Dina </a:t>
            </a:r>
            <a:r>
              <a:rPr lang="en-US" sz="1600" b="1" dirty="0" err="1">
                <a:solidFill>
                  <a:srgbClr val="FFFFFF"/>
                </a:solidFill>
                <a:latin typeface="Calibri" pitchFamily="34" charset="0"/>
                <a:ea typeface="Calibri" pitchFamily="34" charset="-122"/>
                <a:cs typeface="Calibri" pitchFamily="34" charset="-120"/>
              </a:rPr>
              <a:t>Gladan</a:t>
            </a:r>
            <a:r>
              <a:rPr lang="en-US" sz="1400" dirty="0">
                <a:solidFill>
                  <a:srgbClr val="C9D8D4"/>
                </a:solidFill>
                <a:latin typeface="Calibri" pitchFamily="34" charset="0"/>
                <a:ea typeface="Calibri" pitchFamily="34" charset="-122"/>
                <a:cs typeface="Calibri" pitchFamily="34" charset="-120"/>
              </a:rPr>
              <a:t>     Mentorica: prof. dr. sc. Ana Kuzmanić Skelin</a:t>
            </a:r>
            <a:endParaRPr lang="en-US" sz="1600" dirty="0"/>
          </a:p>
        </p:txBody>
      </p:sp>
      <p:sp>
        <p:nvSpPr>
          <p:cNvPr id="9" name="Text 6"/>
          <p:cNvSpPr/>
          <p:nvPr/>
        </p:nvSpPr>
        <p:spPr>
          <a:xfrm>
            <a:off x="1005840" y="5440680"/>
            <a:ext cx="10177272" cy="320040"/>
          </a:xfrm>
          <a:prstGeom prst="rect">
            <a:avLst/>
          </a:prstGeom>
          <a:noFill/>
          <a:ln/>
        </p:spPr>
        <p:txBody>
          <a:bodyPr wrap="square" lIns="0" tIns="0" rIns="0" bIns="0" rtlCol="0" anchor="ctr"/>
          <a:lstStyle/>
          <a:p>
            <a:pPr marL="0" indent="0" algn="ctr">
              <a:buNone/>
            </a:pPr>
            <a:r>
              <a:rPr lang="en-US" sz="1400" dirty="0">
                <a:solidFill>
                  <a:srgbClr val="C9D8D4"/>
                </a:solidFill>
                <a:latin typeface="Calibri" pitchFamily="34" charset="0"/>
                <a:ea typeface="Calibri" pitchFamily="34" charset="-122"/>
                <a:cs typeface="Calibri" pitchFamily="34" charset="-120"/>
              </a:rPr>
              <a:t>Split, </a:t>
            </a:r>
            <a:r>
              <a:rPr lang="en-US" sz="1400" dirty="0" err="1">
                <a:solidFill>
                  <a:srgbClr val="C9D8D4"/>
                </a:solidFill>
                <a:latin typeface="Calibri" pitchFamily="34" charset="0"/>
                <a:ea typeface="Calibri" pitchFamily="34" charset="-122"/>
                <a:cs typeface="Calibri" pitchFamily="34" charset="-120"/>
              </a:rPr>
              <a:t>rujan</a:t>
            </a:r>
            <a:r>
              <a:rPr lang="en-US" sz="1400" dirty="0">
                <a:solidFill>
                  <a:srgbClr val="C9D8D4"/>
                </a:solidFill>
                <a:latin typeface="Calibri" pitchFamily="34" charset="0"/>
                <a:ea typeface="Calibri" pitchFamily="34" charset="-122"/>
                <a:cs typeface="Calibri" pitchFamily="34" charset="-120"/>
              </a:rPr>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C29E79-47B1-4C04-AA15-CCF62243CB22}"/>
              </a:ext>
            </a:extLst>
          </p:cNvPr>
          <p:cNvSpPr/>
          <p:nvPr/>
        </p:nvSpPr>
        <p:spPr>
          <a:xfrm>
            <a:off x="320040" y="1951264"/>
            <a:ext cx="6126480" cy="2955472"/>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Problem </a:t>
            </a:r>
            <a:r>
              <a:rPr lang="en-US" sz="3000" b="1" dirty="0" err="1">
                <a:solidFill>
                  <a:srgbClr val="1A2420"/>
                </a:solidFill>
                <a:latin typeface="Calibri" pitchFamily="34" charset="0"/>
                <a:ea typeface="Calibri" pitchFamily="34" charset="-122"/>
                <a:cs typeface="Calibri" pitchFamily="34" charset="-120"/>
              </a:rPr>
              <a:t>i</a:t>
            </a:r>
            <a:r>
              <a:rPr lang="en-US" sz="3000" b="1" dirty="0">
                <a:solidFill>
                  <a:srgbClr val="1A2420"/>
                </a:solidFill>
                <a:latin typeface="Calibri" pitchFamily="34" charset="0"/>
                <a:ea typeface="Calibri" pitchFamily="34" charset="-122"/>
                <a:cs typeface="Calibri" pitchFamily="34" charset="-120"/>
              </a:rPr>
              <a:t> </a:t>
            </a:r>
            <a:r>
              <a:rPr lang="en-US" sz="3000" b="1" dirty="0" err="1">
                <a:solidFill>
                  <a:srgbClr val="1A2420"/>
                </a:solidFill>
                <a:latin typeface="Calibri" pitchFamily="34" charset="0"/>
                <a:ea typeface="Calibri" pitchFamily="34" charset="-122"/>
                <a:cs typeface="Calibri" pitchFamily="34" charset="-120"/>
              </a:rPr>
              <a:t>opis</a:t>
            </a:r>
            <a:endParaRPr lang="en-US" sz="3000" dirty="0"/>
          </a:p>
        </p:txBody>
      </p:sp>
      <p:sp>
        <p:nvSpPr>
          <p:cNvPr id="4" name="Text 1"/>
          <p:cNvSpPr/>
          <p:nvPr/>
        </p:nvSpPr>
        <p:spPr>
          <a:xfrm>
            <a:off x="548640" y="1325880"/>
            <a:ext cx="6126480" cy="4032504"/>
          </a:xfrm>
          <a:prstGeom prst="rect">
            <a:avLst/>
          </a:prstGeom>
          <a:noFill/>
          <a:ln/>
        </p:spPr>
        <p:txBody>
          <a:bodyPr wrap="square" lIns="0" tIns="0" rIns="0" bIns="0" rtlCol="0" anchor="ctr"/>
          <a:lstStyle/>
          <a:p>
            <a:pPr marL="177800" indent="-177800">
              <a:spcAft>
                <a:spcPts val="1400"/>
              </a:spcAft>
              <a:buSzPct val="100000"/>
              <a:buChar char="•"/>
            </a:pPr>
            <a:r>
              <a:rPr lang="en-US" sz="1600" dirty="0">
                <a:solidFill>
                  <a:srgbClr val="1A2420"/>
                </a:solidFill>
                <a:latin typeface="Calibri" pitchFamily="34" charset="0"/>
                <a:ea typeface="Calibri" pitchFamily="34" charset="-122"/>
                <a:cs typeface="Calibri" pitchFamily="34" charset="-120"/>
              </a:rPr>
              <a:t>Odabir </a:t>
            </a:r>
            <a:r>
              <a:rPr lang="en-US" sz="1600" dirty="0" err="1">
                <a:solidFill>
                  <a:srgbClr val="1A2420"/>
                </a:solidFill>
                <a:latin typeface="Calibri" pitchFamily="34" charset="0"/>
                <a:ea typeface="Calibri" pitchFamily="34" charset="-122"/>
                <a:cs typeface="Calibri" pitchFamily="34" charset="-120"/>
              </a:rPr>
              <a:t>dodatka</a:t>
            </a:r>
            <a:r>
              <a:rPr lang="en-US" sz="1600" dirty="0">
                <a:solidFill>
                  <a:srgbClr val="1A2420"/>
                </a:solidFill>
                <a:latin typeface="Calibri" pitchFamily="34" charset="0"/>
                <a:ea typeface="Calibri" pitchFamily="34" charset="-122"/>
                <a:cs typeface="Calibri" pitchFamily="34" charset="-120"/>
              </a:rPr>
              <a:t> </a:t>
            </a:r>
            <a:r>
              <a:rPr lang="en-US" sz="1600" dirty="0" err="1">
                <a:solidFill>
                  <a:srgbClr val="1A2420"/>
                </a:solidFill>
                <a:latin typeface="Calibri" pitchFamily="34" charset="0"/>
                <a:ea typeface="Calibri" pitchFamily="34" charset="-122"/>
                <a:cs typeface="Calibri" pitchFamily="34" charset="-120"/>
              </a:rPr>
              <a:t>prehrani</a:t>
            </a:r>
            <a:r>
              <a:rPr lang="en-US" sz="1600" dirty="0">
                <a:solidFill>
                  <a:srgbClr val="1A2420"/>
                </a:solidFill>
                <a:latin typeface="Calibri" pitchFamily="34" charset="0"/>
                <a:ea typeface="Calibri" pitchFamily="34" charset="-122"/>
                <a:cs typeface="Calibri" pitchFamily="34" charset="-120"/>
              </a:rPr>
              <a:t> je </a:t>
            </a:r>
            <a:r>
              <a:rPr lang="en-US" sz="1600" dirty="0" err="1">
                <a:solidFill>
                  <a:srgbClr val="1A2420"/>
                </a:solidFill>
                <a:latin typeface="Calibri" pitchFamily="34" charset="0"/>
                <a:ea typeface="Calibri" pitchFamily="34" charset="-122"/>
                <a:cs typeface="Calibri" pitchFamily="34" charset="-120"/>
              </a:rPr>
              <a:t>osoban</a:t>
            </a:r>
            <a:r>
              <a:rPr lang="en-US" sz="1600" dirty="0">
                <a:solidFill>
                  <a:srgbClr val="1A2420"/>
                </a:solidFill>
                <a:latin typeface="Calibri" pitchFamily="34" charset="0"/>
                <a:ea typeface="Calibri" pitchFamily="34" charset="-122"/>
                <a:cs typeface="Calibri" pitchFamily="34" charset="-120"/>
              </a:rPr>
              <a:t> </a:t>
            </a:r>
            <a:r>
              <a:rPr lang="en-US" sz="1600" dirty="0" err="1">
                <a:solidFill>
                  <a:srgbClr val="1A2420"/>
                </a:solidFill>
                <a:latin typeface="Calibri" pitchFamily="34" charset="0"/>
                <a:ea typeface="Calibri" pitchFamily="34" charset="-122"/>
                <a:cs typeface="Calibri" pitchFamily="34" charset="-120"/>
              </a:rPr>
              <a:t>i</a:t>
            </a:r>
            <a:r>
              <a:rPr lang="en-US" sz="1600" dirty="0">
                <a:solidFill>
                  <a:srgbClr val="1A2420"/>
                </a:solidFill>
                <a:latin typeface="Calibri" pitchFamily="34" charset="0"/>
                <a:ea typeface="Calibri" pitchFamily="34" charset="-122"/>
                <a:cs typeface="Calibri" pitchFamily="34" charset="-120"/>
              </a:rPr>
              <a:t> </a:t>
            </a:r>
            <a:r>
              <a:rPr lang="en-US" sz="1600" dirty="0" err="1">
                <a:solidFill>
                  <a:srgbClr val="1A2420"/>
                </a:solidFill>
                <a:latin typeface="Calibri" pitchFamily="34" charset="0"/>
                <a:ea typeface="Calibri" pitchFamily="34" charset="-122"/>
                <a:cs typeface="Calibri" pitchFamily="34" charset="-120"/>
              </a:rPr>
              <a:t>težak</a:t>
            </a:r>
            <a:r>
              <a:rPr lang="en-US" sz="1600" dirty="0">
                <a:solidFill>
                  <a:srgbClr val="1A2420"/>
                </a:solidFill>
                <a:latin typeface="Calibri" pitchFamily="34" charset="0"/>
                <a:ea typeface="Calibri" pitchFamily="34" charset="-122"/>
                <a:cs typeface="Calibri" pitchFamily="34" charset="-120"/>
              </a:rPr>
              <a:t>: informacije raspršene, </a:t>
            </a:r>
            <a:r>
              <a:rPr lang="en-US" sz="1600" dirty="0" err="1">
                <a:solidFill>
                  <a:srgbClr val="1A2420"/>
                </a:solidFill>
                <a:latin typeface="Calibri" pitchFamily="34" charset="0"/>
                <a:ea typeface="Calibri" pitchFamily="34" charset="-122"/>
                <a:cs typeface="Calibri" pitchFamily="34" charset="-120"/>
              </a:rPr>
              <a:t>plaćene</a:t>
            </a:r>
            <a:r>
              <a:rPr lang="en-US" sz="1600" dirty="0">
                <a:solidFill>
                  <a:srgbClr val="1A2420"/>
                </a:solidFill>
                <a:latin typeface="Calibri" pitchFamily="34" charset="0"/>
                <a:ea typeface="Calibri" pitchFamily="34" charset="-122"/>
                <a:cs typeface="Calibri" pitchFamily="34" charset="-120"/>
              </a:rPr>
              <a:t> </a:t>
            </a:r>
            <a:r>
              <a:rPr lang="en-US" sz="1600" dirty="0" err="1">
                <a:solidFill>
                  <a:srgbClr val="1A2420"/>
                </a:solidFill>
                <a:latin typeface="Calibri" pitchFamily="34" charset="0"/>
                <a:ea typeface="Calibri" pitchFamily="34" charset="-122"/>
                <a:cs typeface="Calibri" pitchFamily="34" charset="-120"/>
              </a:rPr>
              <a:t>marketinške</a:t>
            </a:r>
            <a:r>
              <a:rPr lang="en-US" sz="1600" dirty="0">
                <a:solidFill>
                  <a:srgbClr val="1A2420"/>
                </a:solidFill>
                <a:latin typeface="Calibri" pitchFamily="34" charset="0"/>
                <a:ea typeface="Calibri" pitchFamily="34" charset="-122"/>
                <a:cs typeface="Calibri" pitchFamily="34" charset="-120"/>
              </a:rPr>
              <a:t> tvrdnje pretjerane</a:t>
            </a:r>
            <a:endParaRPr lang="en-US" sz="1600" dirty="0"/>
          </a:p>
          <a:p>
            <a:pPr marL="177800" indent="-177800">
              <a:spcAft>
                <a:spcPts val="1400"/>
              </a:spcAft>
              <a:buSzPct val="100000"/>
              <a:buChar char="•"/>
            </a:pPr>
            <a:r>
              <a:rPr lang="en-US" sz="1600" dirty="0">
                <a:solidFill>
                  <a:srgbClr val="1A2420"/>
                </a:solidFill>
                <a:latin typeface="Calibri" pitchFamily="34" charset="0"/>
                <a:ea typeface="Calibri" pitchFamily="34" charset="-122"/>
                <a:cs typeface="Calibri" pitchFamily="34" charset="-120"/>
              </a:rPr>
              <a:t>Učinak ovisi o </a:t>
            </a:r>
            <a:r>
              <a:rPr lang="en-US" sz="1600" dirty="0" err="1">
                <a:solidFill>
                  <a:srgbClr val="1A2420"/>
                </a:solidFill>
                <a:latin typeface="Calibri" pitchFamily="34" charset="0"/>
                <a:ea typeface="Calibri" pitchFamily="34" charset="-122"/>
                <a:cs typeface="Calibri" pitchFamily="34" charset="-120"/>
              </a:rPr>
              <a:t>pojedincu</a:t>
            </a:r>
            <a:r>
              <a:rPr lang="en-US" sz="1600" dirty="0">
                <a:solidFill>
                  <a:srgbClr val="1A2420"/>
                </a:solidFill>
                <a:latin typeface="Calibri" pitchFamily="34" charset="0"/>
                <a:ea typeface="Calibri" pitchFamily="34" charset="-122"/>
                <a:cs typeface="Calibri" pitchFamily="34" charset="-120"/>
              </a:rPr>
              <a:t> - san, stres, prehrana, aktivnost, izloženost suncu</a:t>
            </a:r>
            <a:endParaRPr lang="en-US" sz="1600" dirty="0"/>
          </a:p>
          <a:p>
            <a:pPr marL="177800" indent="-177800">
              <a:spcAft>
                <a:spcPts val="1400"/>
              </a:spcAft>
              <a:buSzPct val="100000"/>
              <a:buChar char="•"/>
            </a:pPr>
            <a:r>
              <a:rPr lang="en-US" sz="1600" dirty="0">
                <a:solidFill>
                  <a:srgbClr val="1A2420"/>
                </a:solidFill>
                <a:latin typeface="Calibri" pitchFamily="34" charset="0"/>
                <a:ea typeface="Calibri" pitchFamily="34" charset="-122"/>
                <a:cs typeface="Calibri" pitchFamily="34" charset="-120"/>
              </a:rPr>
              <a:t>Generički savjeti i dugi upitnici ne rješavaju problem</a:t>
            </a:r>
            <a:endParaRPr lang="en-US" sz="1600" dirty="0"/>
          </a:p>
          <a:p>
            <a:pPr marL="177800" indent="-177800">
              <a:spcAft>
                <a:spcPts val="1400"/>
              </a:spcAft>
              <a:buSzPct val="100000"/>
              <a:buChar char="•"/>
            </a:pPr>
            <a:r>
              <a:rPr lang="en-US" sz="1600" dirty="0">
                <a:solidFill>
                  <a:srgbClr val="1A2420"/>
                </a:solidFill>
                <a:latin typeface="Calibri" pitchFamily="34" charset="0"/>
                <a:ea typeface="Calibri" pitchFamily="34" charset="-122"/>
                <a:cs typeface="Calibri" pitchFamily="34" charset="-120"/>
              </a:rPr>
              <a:t>LLM-ovi omogućuju unos običnim rečenicama…</a:t>
            </a:r>
            <a:endParaRPr lang="en-US" sz="1600" dirty="0"/>
          </a:p>
          <a:p>
            <a:pPr marL="177800" indent="-177800">
              <a:spcAft>
                <a:spcPts val="1400"/>
              </a:spcAft>
              <a:buSzPct val="100000"/>
              <a:buChar char="•"/>
            </a:pPr>
            <a:r>
              <a:rPr lang="en-US" sz="1600" dirty="0">
                <a:solidFill>
                  <a:srgbClr val="1A2420"/>
                </a:solidFill>
                <a:latin typeface="Calibri" pitchFamily="34" charset="0"/>
                <a:ea typeface="Calibri" pitchFamily="34" charset="-122"/>
                <a:cs typeface="Calibri" pitchFamily="34" charset="-120"/>
              </a:rPr>
              <a:t>…ali generiraju i uvjerljive netočne odgovore (halucinacije)</a:t>
            </a:r>
            <a:endParaRPr lang="en-US" sz="1600" dirty="0"/>
          </a:p>
        </p:txBody>
      </p:sp>
      <p:sp>
        <p:nvSpPr>
          <p:cNvPr id="5" name="Shape 2"/>
          <p:cNvSpPr/>
          <p:nvPr/>
        </p:nvSpPr>
        <p:spPr>
          <a:xfrm>
            <a:off x="7223760" y="1334044"/>
            <a:ext cx="4389120" cy="1234440"/>
          </a:xfrm>
          <a:prstGeom prst="roundRect">
            <a:avLst>
              <a:gd name="adj" fmla="val 5926"/>
            </a:avLst>
          </a:prstGeom>
          <a:solidFill>
            <a:srgbClr val="ECE7F9"/>
          </a:solidFill>
          <a:ln w="12700">
            <a:solidFill>
              <a:srgbClr val="E2F2EF"/>
            </a:solidFill>
            <a:prstDash val="solid"/>
          </a:ln>
        </p:spPr>
      </p:sp>
      <p:sp>
        <p:nvSpPr>
          <p:cNvPr id="6" name="Text 3"/>
          <p:cNvSpPr/>
          <p:nvPr/>
        </p:nvSpPr>
        <p:spPr>
          <a:xfrm>
            <a:off x="7452360" y="1463040"/>
            <a:ext cx="3931920" cy="320040"/>
          </a:xfrm>
          <a:prstGeom prst="rect">
            <a:avLst/>
          </a:prstGeom>
          <a:noFill/>
          <a:ln/>
        </p:spPr>
        <p:txBody>
          <a:bodyPr wrap="square" lIns="0" tIns="0" rIns="0" bIns="0" rtlCol="0" anchor="ctr"/>
          <a:lstStyle/>
          <a:p>
            <a:pPr marL="0" indent="0">
              <a:buNone/>
            </a:pPr>
            <a:r>
              <a:rPr lang="en-US" sz="1400" b="1" dirty="0" err="1">
                <a:solidFill>
                  <a:srgbClr val="6D4FC4"/>
                </a:solidFill>
                <a:latin typeface="Calibri" pitchFamily="34" charset="0"/>
                <a:ea typeface="Calibri" pitchFamily="34" charset="-122"/>
                <a:cs typeface="Calibri" pitchFamily="34" charset="-120"/>
              </a:rPr>
              <a:t>Osobni</a:t>
            </a:r>
            <a:r>
              <a:rPr lang="en-US" sz="1400" b="1" dirty="0">
                <a:solidFill>
                  <a:srgbClr val="6D4FC4"/>
                </a:solidFill>
                <a:latin typeface="Calibri" pitchFamily="34" charset="0"/>
                <a:ea typeface="Calibri" pitchFamily="34" charset="-122"/>
                <a:cs typeface="Calibri" pitchFamily="34" charset="-120"/>
              </a:rPr>
              <a:t> problem</a:t>
            </a:r>
          </a:p>
        </p:txBody>
      </p:sp>
      <p:sp>
        <p:nvSpPr>
          <p:cNvPr id="7" name="Text 4"/>
          <p:cNvSpPr/>
          <p:nvPr/>
        </p:nvSpPr>
        <p:spPr>
          <a:xfrm>
            <a:off x="7452360" y="1783080"/>
            <a:ext cx="3931920" cy="685800"/>
          </a:xfrm>
          <a:prstGeom prst="rect">
            <a:avLst/>
          </a:prstGeom>
          <a:noFill/>
          <a:ln/>
        </p:spPr>
        <p:txBody>
          <a:bodyPr wrap="square" lIns="0" tIns="0" rIns="0" bIns="0" rtlCol="0" anchor="ctr"/>
          <a:lstStyle/>
          <a:p>
            <a:pPr marL="0" indent="0">
              <a:buNone/>
            </a:pPr>
            <a:r>
              <a:rPr lang="en-US" sz="1250" dirty="0">
                <a:solidFill>
                  <a:srgbClr val="1A2420"/>
                </a:solidFill>
                <a:latin typeface="Calibri" pitchFamily="34" charset="0"/>
                <a:ea typeface="Calibri" pitchFamily="34" charset="-122"/>
                <a:cs typeface="Calibri" pitchFamily="34" charset="-120"/>
              </a:rPr>
              <a:t>Isti proizvod nekome pomaže, nekome je suvišan — ovisi o profilu i ciljevima.</a:t>
            </a:r>
            <a:endParaRPr lang="en-US" sz="1250" dirty="0"/>
          </a:p>
        </p:txBody>
      </p:sp>
      <p:sp>
        <p:nvSpPr>
          <p:cNvPr id="8" name="Shape 5"/>
          <p:cNvSpPr/>
          <p:nvPr/>
        </p:nvSpPr>
        <p:spPr>
          <a:xfrm>
            <a:off x="7223760" y="2724912"/>
            <a:ext cx="4389120" cy="1234440"/>
          </a:xfrm>
          <a:prstGeom prst="roundRect">
            <a:avLst>
              <a:gd name="adj" fmla="val 5926"/>
            </a:avLst>
          </a:prstGeom>
          <a:solidFill>
            <a:srgbClr val="ECE7F9"/>
          </a:solidFill>
          <a:ln w="12700">
            <a:solidFill>
              <a:srgbClr val="ECE7F9"/>
            </a:solidFill>
            <a:prstDash val="solid"/>
          </a:ln>
        </p:spPr>
        <p:txBody>
          <a:bodyPr/>
          <a:lstStyle/>
          <a:p>
            <a:endParaRPr lang="en-US" dirty="0"/>
          </a:p>
        </p:txBody>
      </p:sp>
      <p:sp>
        <p:nvSpPr>
          <p:cNvPr id="9" name="Text 6"/>
          <p:cNvSpPr/>
          <p:nvPr/>
        </p:nvSpPr>
        <p:spPr>
          <a:xfrm>
            <a:off x="7452360" y="2862072"/>
            <a:ext cx="3931920" cy="320040"/>
          </a:xfrm>
          <a:prstGeom prst="rect">
            <a:avLst/>
          </a:prstGeom>
          <a:noFill/>
          <a:ln/>
        </p:spPr>
        <p:txBody>
          <a:bodyPr wrap="square" lIns="0" tIns="0" rIns="0" bIns="0" rtlCol="0" anchor="ctr"/>
          <a:lstStyle/>
          <a:p>
            <a:pPr marL="0" indent="0">
              <a:buNone/>
            </a:pPr>
            <a:r>
              <a:rPr lang="en-US" sz="1400" b="1" dirty="0" err="1">
                <a:solidFill>
                  <a:srgbClr val="6D4FC4"/>
                </a:solidFill>
                <a:latin typeface="Calibri" pitchFamily="34" charset="0"/>
                <a:ea typeface="Calibri" pitchFamily="34" charset="-122"/>
                <a:cs typeface="Calibri" pitchFamily="34" charset="-120"/>
              </a:rPr>
              <a:t>Prilika</a:t>
            </a:r>
            <a:r>
              <a:rPr lang="en-US" sz="1400" b="1" dirty="0">
                <a:solidFill>
                  <a:srgbClr val="6D4FC4"/>
                </a:solidFill>
                <a:latin typeface="Calibri" pitchFamily="34" charset="0"/>
                <a:ea typeface="Calibri" pitchFamily="34" charset="-122"/>
                <a:cs typeface="Calibri" pitchFamily="34" charset="-120"/>
              </a:rPr>
              <a:t> -  jezični modeli</a:t>
            </a:r>
            <a:endParaRPr lang="en-US" sz="1400" dirty="0"/>
          </a:p>
        </p:txBody>
      </p:sp>
      <p:sp>
        <p:nvSpPr>
          <p:cNvPr id="10" name="Text 7"/>
          <p:cNvSpPr/>
          <p:nvPr/>
        </p:nvSpPr>
        <p:spPr>
          <a:xfrm>
            <a:off x="7452360" y="3182112"/>
            <a:ext cx="3931920" cy="685800"/>
          </a:xfrm>
          <a:prstGeom prst="rect">
            <a:avLst/>
          </a:prstGeom>
          <a:noFill/>
          <a:ln/>
        </p:spPr>
        <p:txBody>
          <a:bodyPr wrap="square" lIns="0" tIns="0" rIns="0" bIns="0" rtlCol="0" anchor="ctr"/>
          <a:lstStyle/>
          <a:p>
            <a:pPr marL="0" indent="0">
              <a:buNone/>
            </a:pPr>
            <a:r>
              <a:rPr lang="en-US" sz="1250" dirty="0">
                <a:solidFill>
                  <a:srgbClr val="1A2420"/>
                </a:solidFill>
                <a:latin typeface="Calibri" pitchFamily="34" charset="0"/>
                <a:ea typeface="Calibri" pitchFamily="34" charset="-122"/>
                <a:cs typeface="Calibri" pitchFamily="34" charset="-120"/>
              </a:rPr>
              <a:t>Korisnik se opiše slobodnim tekstom, bez formulara.</a:t>
            </a:r>
            <a:endParaRPr lang="en-US" sz="1250" dirty="0"/>
          </a:p>
        </p:txBody>
      </p:sp>
      <p:sp>
        <p:nvSpPr>
          <p:cNvPr id="11" name="Shape 8"/>
          <p:cNvSpPr/>
          <p:nvPr/>
        </p:nvSpPr>
        <p:spPr>
          <a:xfrm>
            <a:off x="7223760" y="4123944"/>
            <a:ext cx="4389120" cy="1371600"/>
          </a:xfrm>
          <a:prstGeom prst="roundRect">
            <a:avLst>
              <a:gd name="adj" fmla="val 5333"/>
            </a:avLst>
          </a:prstGeom>
          <a:solidFill>
            <a:srgbClr val="0C2925"/>
          </a:solidFill>
          <a:ln w="12700">
            <a:solidFill>
              <a:srgbClr val="0C2925"/>
            </a:solidFill>
            <a:prstDash val="solid"/>
          </a:ln>
        </p:spPr>
      </p:sp>
      <p:sp>
        <p:nvSpPr>
          <p:cNvPr id="12" name="Text 9"/>
          <p:cNvSpPr/>
          <p:nvPr/>
        </p:nvSpPr>
        <p:spPr>
          <a:xfrm>
            <a:off x="7452360" y="4261104"/>
            <a:ext cx="3931920" cy="320040"/>
          </a:xfrm>
          <a:prstGeom prst="rect">
            <a:avLst/>
          </a:prstGeom>
          <a:noFill/>
          <a:ln/>
        </p:spPr>
        <p:txBody>
          <a:bodyPr wrap="square" lIns="0" tIns="0" rIns="0" bIns="0" rtlCol="0" anchor="ctr"/>
          <a:lstStyle/>
          <a:p>
            <a:pPr marL="0" indent="0">
              <a:buNone/>
            </a:pPr>
            <a:r>
              <a:rPr lang="en-US" sz="1400" b="1" dirty="0" err="1">
                <a:solidFill>
                  <a:srgbClr val="6D4FC4"/>
                </a:solidFill>
                <a:latin typeface="Calibri" pitchFamily="34" charset="0"/>
                <a:ea typeface="Calibri" pitchFamily="34" charset="-122"/>
                <a:cs typeface="Calibri" pitchFamily="34" charset="-120"/>
              </a:rPr>
              <a:t>Rizik</a:t>
            </a:r>
            <a:r>
              <a:rPr lang="en-US" sz="1400" b="1" dirty="0">
                <a:solidFill>
                  <a:srgbClr val="6D4FC4"/>
                </a:solidFill>
                <a:latin typeface="Calibri" pitchFamily="34" charset="0"/>
                <a:ea typeface="Calibri" pitchFamily="34" charset="-122"/>
                <a:cs typeface="Calibri" pitchFamily="34" charset="-120"/>
              </a:rPr>
              <a:t> - </a:t>
            </a:r>
            <a:r>
              <a:rPr lang="en-US" sz="1400" b="1" dirty="0" err="1">
                <a:solidFill>
                  <a:srgbClr val="6D4FC4"/>
                </a:solidFill>
                <a:latin typeface="Calibri" pitchFamily="34" charset="0"/>
                <a:ea typeface="Calibri" pitchFamily="34" charset="-122"/>
                <a:cs typeface="Calibri" pitchFamily="34" charset="-120"/>
              </a:rPr>
              <a:t>zdravstvena</a:t>
            </a:r>
            <a:r>
              <a:rPr lang="en-US" sz="1400" b="1" dirty="0">
                <a:solidFill>
                  <a:srgbClr val="6D4FC4"/>
                </a:solidFill>
                <a:latin typeface="Calibri" pitchFamily="34" charset="0"/>
                <a:ea typeface="Calibri" pitchFamily="34" charset="-122"/>
                <a:cs typeface="Calibri" pitchFamily="34" charset="-120"/>
              </a:rPr>
              <a:t> </a:t>
            </a:r>
            <a:r>
              <a:rPr lang="en-US" sz="1400" b="1" dirty="0" err="1">
                <a:solidFill>
                  <a:srgbClr val="6D4FC4"/>
                </a:solidFill>
                <a:latin typeface="Calibri" pitchFamily="34" charset="0"/>
                <a:ea typeface="Calibri" pitchFamily="34" charset="-122"/>
                <a:cs typeface="Calibri" pitchFamily="34" charset="-120"/>
              </a:rPr>
              <a:t>domena</a:t>
            </a:r>
            <a:endParaRPr lang="en-US" sz="1400" b="1" dirty="0">
              <a:solidFill>
                <a:srgbClr val="6D4FC4"/>
              </a:solidFill>
              <a:latin typeface="Calibri" pitchFamily="34" charset="0"/>
              <a:ea typeface="Calibri" pitchFamily="34" charset="-122"/>
              <a:cs typeface="Calibri" pitchFamily="34" charset="-120"/>
            </a:endParaRPr>
          </a:p>
        </p:txBody>
      </p:sp>
      <p:sp>
        <p:nvSpPr>
          <p:cNvPr id="13" name="Text 10"/>
          <p:cNvSpPr/>
          <p:nvPr/>
        </p:nvSpPr>
        <p:spPr>
          <a:xfrm>
            <a:off x="7452360" y="4581144"/>
            <a:ext cx="3931920" cy="77724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Izmišljena ili neprovjerljiva preporuka je neprihvatljiva.</a:t>
            </a:r>
            <a:endParaRPr lang="en-US" sz="1250" dirty="0"/>
          </a:p>
        </p:txBody>
      </p:sp>
      <p:sp>
        <p:nvSpPr>
          <p:cNvPr id="14" name="Text 11"/>
          <p:cNvSpPr/>
          <p:nvPr/>
        </p:nvSpPr>
        <p:spPr>
          <a:xfrm>
            <a:off x="548640" y="5755168"/>
            <a:ext cx="11091672" cy="457200"/>
          </a:xfrm>
          <a:prstGeom prst="rect">
            <a:avLst/>
          </a:prstGeom>
          <a:noFill/>
          <a:ln/>
        </p:spPr>
        <p:txBody>
          <a:bodyPr wrap="square" lIns="0" tIns="0" rIns="0" bIns="0" rtlCol="0" anchor="ctr"/>
          <a:lstStyle/>
          <a:p>
            <a:pPr marL="0" indent="0">
              <a:buNone/>
            </a:pPr>
            <a:r>
              <a:rPr lang="en-US" sz="1400" b="1" dirty="0" err="1">
                <a:solidFill>
                  <a:srgbClr val="6D4FC4"/>
                </a:solidFill>
                <a:latin typeface="Calibri" pitchFamily="34" charset="0"/>
                <a:ea typeface="Calibri" pitchFamily="34" charset="-122"/>
                <a:cs typeface="Calibri" pitchFamily="34" charset="-120"/>
              </a:rPr>
              <a:t>Pitanje</a:t>
            </a:r>
            <a:r>
              <a:rPr lang="en-US" sz="1400" b="1" dirty="0">
                <a:solidFill>
                  <a:srgbClr val="6D4FC4"/>
                </a:solidFill>
                <a:latin typeface="Calibri" pitchFamily="34" charset="0"/>
                <a:ea typeface="Calibri" pitchFamily="34" charset="-122"/>
                <a:cs typeface="Calibri" pitchFamily="34" charset="-120"/>
              </a:rPr>
              <a:t> </a:t>
            </a:r>
            <a:r>
              <a:rPr lang="en-US" sz="1400" b="1" dirty="0" err="1">
                <a:solidFill>
                  <a:srgbClr val="6D4FC4"/>
                </a:solidFill>
                <a:latin typeface="Calibri" pitchFamily="34" charset="0"/>
                <a:ea typeface="Calibri" pitchFamily="34" charset="-122"/>
                <a:cs typeface="Calibri" pitchFamily="34" charset="-120"/>
              </a:rPr>
              <a:t>rada</a:t>
            </a:r>
            <a:r>
              <a:rPr lang="en-US" sz="1400" b="1" dirty="0">
                <a:solidFill>
                  <a:srgbClr val="6D4FC4"/>
                </a:solidFill>
                <a:latin typeface="Calibri" pitchFamily="34" charset="0"/>
                <a:ea typeface="Calibri" pitchFamily="34" charset="-122"/>
                <a:cs typeface="Calibri" pitchFamily="34" charset="-120"/>
              </a:rPr>
              <a:t>: </a:t>
            </a:r>
            <a:r>
              <a:rPr lang="en-US" sz="1400" dirty="0" err="1">
                <a:solidFill>
                  <a:srgbClr val="6D4FC4"/>
                </a:solidFill>
                <a:latin typeface="Calibri" pitchFamily="34" charset="0"/>
                <a:ea typeface="Calibri" pitchFamily="34" charset="-122"/>
                <a:cs typeface="Calibri" pitchFamily="34" charset="-120"/>
              </a:rPr>
              <a:t>Kako</a:t>
            </a:r>
            <a:r>
              <a:rPr lang="en-US" sz="1400" dirty="0">
                <a:solidFill>
                  <a:srgbClr val="6D4FC4"/>
                </a:solidFill>
                <a:latin typeface="Calibri" pitchFamily="34" charset="0"/>
                <a:ea typeface="Calibri" pitchFamily="34" charset="-122"/>
                <a:cs typeface="Calibri" pitchFamily="34" charset="-120"/>
              </a:rPr>
              <a:t> spojiti praktičnost slobodnog teksta s pouzdanošću </a:t>
            </a:r>
            <a:r>
              <a:rPr lang="en-US" sz="1400" dirty="0" err="1">
                <a:solidFill>
                  <a:srgbClr val="6D4FC4"/>
                </a:solidFill>
                <a:latin typeface="Calibri" pitchFamily="34" charset="0"/>
                <a:ea typeface="Calibri" pitchFamily="34" charset="-122"/>
                <a:cs typeface="Calibri" pitchFamily="34" charset="-120"/>
              </a:rPr>
              <a:t>odluka</a:t>
            </a:r>
            <a:r>
              <a:rPr lang="en-US" sz="1400" dirty="0">
                <a:solidFill>
                  <a:srgbClr val="6D4FC4"/>
                </a:solidFill>
                <a:latin typeface="Calibri" pitchFamily="34" charset="0"/>
                <a:ea typeface="Calibri" pitchFamily="34" charset="-122"/>
                <a:cs typeface="Calibri" pitchFamily="34" charset="-12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Cilj rada i ključno pravilo dizajna</a:t>
            </a:r>
            <a:endParaRPr lang="en-US" sz="3000" dirty="0"/>
          </a:p>
        </p:txBody>
      </p:sp>
      <p:sp>
        <p:nvSpPr>
          <p:cNvPr id="4" name="Shape 1"/>
          <p:cNvSpPr/>
          <p:nvPr/>
        </p:nvSpPr>
        <p:spPr>
          <a:xfrm>
            <a:off x="2042160" y="1900646"/>
            <a:ext cx="8138160" cy="914400"/>
          </a:xfrm>
          <a:prstGeom prst="roundRect">
            <a:avLst>
              <a:gd name="adj" fmla="val 8000"/>
            </a:avLst>
          </a:prstGeom>
          <a:solidFill>
            <a:srgbClr val="0C2925"/>
          </a:solidFill>
          <a:ln w="12700">
            <a:solidFill>
              <a:srgbClr val="0C2925"/>
            </a:solidFill>
            <a:prstDash val="solid"/>
          </a:ln>
          <a:effectLst>
            <a:outerShdw blurRad="76200" dist="25400" dir="5400000" algn="bl" rotWithShape="0">
              <a:srgbClr val="1A2420">
                <a:alpha val="18000"/>
              </a:srgbClr>
            </a:outerShdw>
          </a:effectLst>
        </p:spPr>
      </p:sp>
      <p:sp>
        <p:nvSpPr>
          <p:cNvPr id="5" name="Text 2"/>
          <p:cNvSpPr/>
          <p:nvPr/>
        </p:nvSpPr>
        <p:spPr>
          <a:xfrm>
            <a:off x="2042160" y="1897380"/>
            <a:ext cx="8138160" cy="9144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Jezični model NE odabire dodatke prehrani.</a:t>
            </a:r>
            <a:endParaRPr lang="en-US" sz="2200" dirty="0"/>
          </a:p>
        </p:txBody>
      </p:sp>
      <p:sp>
        <p:nvSpPr>
          <p:cNvPr id="6" name="Shape 3"/>
          <p:cNvSpPr/>
          <p:nvPr/>
        </p:nvSpPr>
        <p:spPr>
          <a:xfrm>
            <a:off x="807720" y="3455126"/>
            <a:ext cx="5120640" cy="2286000"/>
          </a:xfrm>
          <a:prstGeom prst="roundRect">
            <a:avLst>
              <a:gd name="adj" fmla="val 3200"/>
            </a:avLst>
          </a:prstGeom>
          <a:solidFill>
            <a:srgbClr val="ECE7F9"/>
          </a:solidFill>
          <a:ln w="12700">
            <a:solidFill>
              <a:srgbClr val="ECE7F9"/>
            </a:solidFill>
            <a:prstDash val="solid"/>
          </a:ln>
        </p:spPr>
        <p:txBody>
          <a:bodyPr/>
          <a:lstStyle/>
          <a:p>
            <a:endParaRPr lang="en-US" dirty="0"/>
          </a:p>
        </p:txBody>
      </p:sp>
      <p:sp>
        <p:nvSpPr>
          <p:cNvPr id="7" name="Text 4"/>
          <p:cNvSpPr/>
          <p:nvPr/>
        </p:nvSpPr>
        <p:spPr>
          <a:xfrm>
            <a:off x="1097280" y="3749040"/>
            <a:ext cx="4572000" cy="365760"/>
          </a:xfrm>
          <a:prstGeom prst="rect">
            <a:avLst/>
          </a:prstGeom>
          <a:noFill/>
          <a:ln/>
        </p:spPr>
        <p:txBody>
          <a:bodyPr wrap="square" lIns="0" tIns="0" rIns="0" bIns="0" rtlCol="0" anchor="ctr"/>
          <a:lstStyle/>
          <a:p>
            <a:pPr marL="0" indent="0">
              <a:buNone/>
            </a:pPr>
            <a:r>
              <a:rPr lang="en-US" sz="1700" b="1" dirty="0">
                <a:solidFill>
                  <a:srgbClr val="6D4FC4"/>
                </a:solidFill>
                <a:latin typeface="Calibri" pitchFamily="34" charset="0"/>
                <a:ea typeface="Calibri" pitchFamily="34" charset="-122"/>
                <a:cs typeface="Calibri" pitchFamily="34" charset="-120"/>
              </a:rPr>
              <a:t>LLM - </a:t>
            </a:r>
            <a:r>
              <a:rPr lang="en-US" sz="1700" b="1" dirty="0" err="1">
                <a:solidFill>
                  <a:srgbClr val="6D4FC4"/>
                </a:solidFill>
                <a:latin typeface="Calibri" pitchFamily="34" charset="0"/>
                <a:ea typeface="Calibri" pitchFamily="34" charset="-122"/>
                <a:cs typeface="Calibri" pitchFamily="34" charset="-120"/>
              </a:rPr>
              <a:t>jezik</a:t>
            </a:r>
            <a:endParaRPr lang="en-US" sz="1700" dirty="0"/>
          </a:p>
        </p:txBody>
      </p:sp>
      <p:sp>
        <p:nvSpPr>
          <p:cNvPr id="8" name="Text 5"/>
          <p:cNvSpPr/>
          <p:nvPr/>
        </p:nvSpPr>
        <p:spPr>
          <a:xfrm>
            <a:off x="1082040" y="3977640"/>
            <a:ext cx="4572000" cy="1554480"/>
          </a:xfrm>
          <a:prstGeom prst="rect">
            <a:avLst/>
          </a:prstGeom>
          <a:noFill/>
          <a:ln/>
        </p:spPr>
        <p:txBody>
          <a:bodyPr wrap="square" lIns="0" tIns="0" rIns="0" bIns="0" rtlCol="0" anchor="ctr"/>
          <a:lstStyle/>
          <a:p>
            <a:pPr marL="152400" indent="-152400">
              <a:spcAft>
                <a:spcPts val="800"/>
              </a:spcAft>
              <a:buSzPct val="100000"/>
              <a:buChar char="•"/>
            </a:pPr>
            <a:r>
              <a:rPr lang="en-US" sz="1350" dirty="0">
                <a:solidFill>
                  <a:srgbClr val="1A2420"/>
                </a:solidFill>
                <a:latin typeface="Calibri" pitchFamily="34" charset="0"/>
                <a:ea typeface="Calibri" pitchFamily="34" charset="-122"/>
                <a:cs typeface="Calibri" pitchFamily="34" charset="-120"/>
              </a:rPr>
              <a:t>Parsiranje profila i ciljeva u JSON (NLU)</a:t>
            </a:r>
            <a:endParaRPr lang="en-US" sz="1350" dirty="0"/>
          </a:p>
          <a:p>
            <a:pPr marL="152400" indent="-152400">
              <a:spcAft>
                <a:spcPts val="800"/>
              </a:spcAft>
              <a:buSzPct val="100000"/>
              <a:buChar char="•"/>
            </a:pPr>
            <a:r>
              <a:rPr lang="en-US" sz="1350" dirty="0">
                <a:solidFill>
                  <a:srgbClr val="1A2420"/>
                </a:solidFill>
                <a:latin typeface="Calibri" pitchFamily="34" charset="0"/>
                <a:ea typeface="Calibri" pitchFamily="34" charset="-122"/>
                <a:cs typeface="Calibri" pitchFamily="34" charset="-120"/>
              </a:rPr>
              <a:t>Oblikovanje završnog objašnjenja (NLG)</a:t>
            </a:r>
            <a:endParaRPr lang="en-US" sz="1350" dirty="0"/>
          </a:p>
          <a:p>
            <a:pPr marL="152400" indent="-152400">
              <a:buSzPct val="100000"/>
              <a:buChar char="•"/>
            </a:pPr>
            <a:r>
              <a:rPr lang="en-US" sz="1350" dirty="0">
                <a:solidFill>
                  <a:srgbClr val="1A2420"/>
                </a:solidFill>
                <a:latin typeface="Calibri" pitchFamily="34" charset="0"/>
                <a:ea typeface="Calibri" pitchFamily="34" charset="-122"/>
                <a:cs typeface="Calibri" pitchFamily="34" charset="-120"/>
              </a:rPr>
              <a:t>Lokalno izvršavanje (Ollama) </a:t>
            </a:r>
            <a:r>
              <a:rPr lang="en-US" sz="1350" dirty="0" err="1">
                <a:solidFill>
                  <a:srgbClr val="1A2420"/>
                </a:solidFill>
                <a:latin typeface="Calibri" pitchFamily="34" charset="0"/>
                <a:ea typeface="Calibri" pitchFamily="34" charset="-122"/>
                <a:cs typeface="Calibri" pitchFamily="34" charset="-120"/>
              </a:rPr>
              <a:t>radi</a:t>
            </a:r>
            <a:r>
              <a:rPr lang="en-US" sz="1350" dirty="0">
                <a:solidFill>
                  <a:srgbClr val="1A2420"/>
                </a:solidFill>
                <a:latin typeface="Calibri" pitchFamily="34" charset="0"/>
                <a:ea typeface="Calibri" pitchFamily="34" charset="-122"/>
                <a:cs typeface="Calibri" pitchFamily="34" charset="-120"/>
              </a:rPr>
              <a:t> </a:t>
            </a:r>
            <a:r>
              <a:rPr lang="en-US" sz="1350" dirty="0" err="1">
                <a:solidFill>
                  <a:srgbClr val="1A2420"/>
                </a:solidFill>
                <a:latin typeface="Calibri" pitchFamily="34" charset="0"/>
                <a:ea typeface="Calibri" pitchFamily="34" charset="-122"/>
                <a:cs typeface="Calibri" pitchFamily="34" charset="-120"/>
              </a:rPr>
              <a:t>privatnosti</a:t>
            </a:r>
            <a:endParaRPr lang="en-US" sz="1350" dirty="0"/>
          </a:p>
        </p:txBody>
      </p:sp>
      <p:sp>
        <p:nvSpPr>
          <p:cNvPr id="9" name="Shape 6"/>
          <p:cNvSpPr/>
          <p:nvPr/>
        </p:nvSpPr>
        <p:spPr>
          <a:xfrm>
            <a:off x="6347460" y="3455126"/>
            <a:ext cx="5120640" cy="2286000"/>
          </a:xfrm>
          <a:prstGeom prst="roundRect">
            <a:avLst>
              <a:gd name="adj" fmla="val 3200"/>
            </a:avLst>
          </a:prstGeom>
          <a:solidFill>
            <a:srgbClr val="E2F2EF"/>
          </a:solidFill>
          <a:ln w="12700">
            <a:solidFill>
              <a:srgbClr val="E2F2EF"/>
            </a:solidFill>
            <a:prstDash val="solid"/>
          </a:ln>
        </p:spPr>
      </p:sp>
      <p:sp>
        <p:nvSpPr>
          <p:cNvPr id="10" name="Text 7"/>
          <p:cNvSpPr/>
          <p:nvPr/>
        </p:nvSpPr>
        <p:spPr>
          <a:xfrm>
            <a:off x="6537960" y="3752306"/>
            <a:ext cx="4572000" cy="365760"/>
          </a:xfrm>
          <a:prstGeom prst="rect">
            <a:avLst/>
          </a:prstGeom>
          <a:noFill/>
          <a:ln/>
        </p:spPr>
        <p:txBody>
          <a:bodyPr wrap="square" lIns="0" tIns="0" rIns="0" bIns="0" rtlCol="0" anchor="ctr"/>
          <a:lstStyle/>
          <a:p>
            <a:pPr marL="0" indent="0">
              <a:buNone/>
            </a:pPr>
            <a:r>
              <a:rPr lang="en-US" sz="1700" b="1" dirty="0" err="1">
                <a:solidFill>
                  <a:srgbClr val="0A6B62"/>
                </a:solidFill>
                <a:latin typeface="Calibri" pitchFamily="34" charset="0"/>
                <a:ea typeface="Calibri" pitchFamily="34" charset="-122"/>
                <a:cs typeface="Calibri" pitchFamily="34" charset="-120"/>
              </a:rPr>
              <a:t>Pravila</a:t>
            </a:r>
            <a:r>
              <a:rPr lang="en-US" sz="1700" b="1" dirty="0">
                <a:solidFill>
                  <a:srgbClr val="0A6B62"/>
                </a:solidFill>
                <a:latin typeface="Calibri" pitchFamily="34" charset="0"/>
                <a:ea typeface="Calibri" pitchFamily="34" charset="-122"/>
                <a:cs typeface="Calibri" pitchFamily="34" charset="-120"/>
              </a:rPr>
              <a:t> - </a:t>
            </a:r>
            <a:r>
              <a:rPr lang="en-US" sz="1700" b="1" dirty="0" err="1">
                <a:solidFill>
                  <a:srgbClr val="0A6B62"/>
                </a:solidFill>
                <a:latin typeface="Calibri" pitchFamily="34" charset="0"/>
                <a:ea typeface="Calibri" pitchFamily="34" charset="-122"/>
                <a:cs typeface="Calibri" pitchFamily="34" charset="-120"/>
              </a:rPr>
              <a:t>odluka</a:t>
            </a:r>
            <a:endParaRPr lang="en-US" sz="1700" dirty="0"/>
          </a:p>
        </p:txBody>
      </p:sp>
      <p:sp>
        <p:nvSpPr>
          <p:cNvPr id="11" name="Text 8"/>
          <p:cNvSpPr/>
          <p:nvPr/>
        </p:nvSpPr>
        <p:spPr>
          <a:xfrm>
            <a:off x="6522720" y="3935186"/>
            <a:ext cx="4572000" cy="1554480"/>
          </a:xfrm>
          <a:prstGeom prst="rect">
            <a:avLst/>
          </a:prstGeom>
          <a:noFill/>
          <a:ln/>
        </p:spPr>
        <p:txBody>
          <a:bodyPr wrap="square" lIns="0" tIns="0" rIns="0" bIns="0" rtlCol="0" anchor="ctr"/>
          <a:lstStyle/>
          <a:p>
            <a:pPr marL="152400" indent="-152400">
              <a:spcAft>
                <a:spcPts val="800"/>
              </a:spcAft>
              <a:buSzPct val="100000"/>
              <a:buChar char="•"/>
            </a:pPr>
            <a:r>
              <a:rPr lang="en-US" sz="1350" dirty="0">
                <a:solidFill>
                  <a:srgbClr val="1A2420"/>
                </a:solidFill>
                <a:latin typeface="Calibri" pitchFamily="34" charset="0"/>
                <a:ea typeface="Calibri" pitchFamily="34" charset="-122"/>
                <a:cs typeface="Calibri" pitchFamily="34" charset="-120"/>
              </a:rPr>
              <a:t>Dvije faze: veto kontraindikacija, pa bodovanje</a:t>
            </a:r>
            <a:endParaRPr lang="en-US" sz="1350" dirty="0"/>
          </a:p>
          <a:p>
            <a:pPr marL="152400" indent="-152400">
              <a:spcAft>
                <a:spcPts val="800"/>
              </a:spcAft>
              <a:buSzPct val="100000"/>
              <a:buChar char="•"/>
            </a:pPr>
            <a:r>
              <a:rPr lang="en-US" sz="1350" dirty="0">
                <a:solidFill>
                  <a:srgbClr val="1A2420"/>
                </a:solidFill>
                <a:latin typeface="Calibri" pitchFamily="34" charset="0"/>
                <a:ea typeface="Calibri" pitchFamily="34" charset="-122"/>
                <a:cs typeface="Calibri" pitchFamily="34" charset="-120"/>
              </a:rPr>
              <a:t>Deterministički: isti ulaz → isti izlaz</a:t>
            </a:r>
            <a:endParaRPr lang="en-US" sz="1350" dirty="0"/>
          </a:p>
          <a:p>
            <a:pPr marL="152400" indent="-152400">
              <a:buSzPct val="100000"/>
              <a:buChar char="•"/>
            </a:pPr>
            <a:r>
              <a:rPr lang="en-US" sz="1350" dirty="0">
                <a:solidFill>
                  <a:srgbClr val="1A2420"/>
                </a:solidFill>
                <a:latin typeface="Calibri" pitchFamily="34" charset="0"/>
                <a:ea typeface="Calibri" pitchFamily="34" charset="-122"/>
                <a:cs typeface="Calibri" pitchFamily="34" charset="-120"/>
              </a:rPr>
              <a:t>Svaki bod objašnjiv (razlozi + upozorenja)</a:t>
            </a:r>
            <a:endParaRPr lang="en-US" sz="1350" dirty="0"/>
          </a:p>
        </p:txBody>
      </p:sp>
      <p:sp>
        <p:nvSpPr>
          <p:cNvPr id="12" name="Text 9"/>
          <p:cNvSpPr/>
          <p:nvPr/>
        </p:nvSpPr>
        <p:spPr>
          <a:xfrm>
            <a:off x="822960" y="5257800"/>
            <a:ext cx="10515600" cy="640080"/>
          </a:xfrm>
          <a:prstGeom prst="rect">
            <a:avLst/>
          </a:prstGeom>
          <a:noFill/>
          <a:ln/>
        </p:spPr>
        <p:txBody>
          <a:bodyPr wrap="square" lIns="0" tIns="0" rIns="0" bIns="0" rtlCol="0" anchor="ctr"/>
          <a:lstStyle/>
          <a:p>
            <a:pPr marL="0" indent="0" algn="ctr">
              <a:buNone/>
            </a:pP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88C206BC-F346-4B58-96A1-E5DEDB23E72D}"/>
              </a:ext>
            </a:extLst>
          </p:cNvPr>
          <p:cNvPicPr>
            <a:picLocks noChangeAspect="1"/>
          </p:cNvPicPr>
          <p:nvPr/>
        </p:nvPicPr>
        <p:blipFill>
          <a:blip r:embed="rId3"/>
          <a:stretch>
            <a:fillRect/>
          </a:stretch>
        </p:blipFill>
        <p:spPr>
          <a:xfrm>
            <a:off x="9426158" y="4437427"/>
            <a:ext cx="2206943" cy="1737511"/>
          </a:xfrm>
          <a:prstGeom prst="rect">
            <a:avLst/>
          </a:prstGeom>
        </p:spPr>
      </p:pic>
      <p:pic>
        <p:nvPicPr>
          <p:cNvPr id="34" name="Picture 33">
            <a:extLst>
              <a:ext uri="{FF2B5EF4-FFF2-40B4-BE49-F238E27FC236}">
                <a16:creationId xmlns:a16="http://schemas.microsoft.com/office/drawing/2014/main" id="{5CDF7D9D-9649-4061-B27F-96B405EF9E5B}"/>
              </a:ext>
            </a:extLst>
          </p:cNvPr>
          <p:cNvPicPr>
            <a:picLocks noChangeAspect="1"/>
          </p:cNvPicPr>
          <p:nvPr/>
        </p:nvPicPr>
        <p:blipFill>
          <a:blip r:embed="rId3"/>
          <a:stretch>
            <a:fillRect/>
          </a:stretch>
        </p:blipFill>
        <p:spPr>
          <a:xfrm>
            <a:off x="9503610" y="597162"/>
            <a:ext cx="2206943" cy="1737511"/>
          </a:xfrm>
          <a:prstGeom prst="rect">
            <a:avLst/>
          </a:prstGeom>
        </p:spPr>
      </p:pic>
      <p:pic>
        <p:nvPicPr>
          <p:cNvPr id="33" name="Picture 32">
            <a:extLst>
              <a:ext uri="{FF2B5EF4-FFF2-40B4-BE49-F238E27FC236}">
                <a16:creationId xmlns:a16="http://schemas.microsoft.com/office/drawing/2014/main" id="{2B5B0A9B-61C9-4766-816F-84BD444DAAA8}"/>
              </a:ext>
            </a:extLst>
          </p:cNvPr>
          <p:cNvPicPr>
            <a:picLocks noChangeAspect="1"/>
          </p:cNvPicPr>
          <p:nvPr/>
        </p:nvPicPr>
        <p:blipFill>
          <a:blip r:embed="rId3"/>
          <a:stretch>
            <a:fillRect/>
          </a:stretch>
        </p:blipFill>
        <p:spPr>
          <a:xfrm>
            <a:off x="7814785" y="2611792"/>
            <a:ext cx="2206943" cy="1737511"/>
          </a:xfrm>
          <a:prstGeom prst="rect">
            <a:avLst/>
          </a:prstGeom>
        </p:spPr>
      </p:pic>
      <p:pic>
        <p:nvPicPr>
          <p:cNvPr id="32" name="Picture 31">
            <a:extLst>
              <a:ext uri="{FF2B5EF4-FFF2-40B4-BE49-F238E27FC236}">
                <a16:creationId xmlns:a16="http://schemas.microsoft.com/office/drawing/2014/main" id="{9F51A76C-E2BC-4F7D-BDBA-24E03F386C77}"/>
              </a:ext>
            </a:extLst>
          </p:cNvPr>
          <p:cNvPicPr>
            <a:picLocks noChangeAspect="1"/>
          </p:cNvPicPr>
          <p:nvPr/>
        </p:nvPicPr>
        <p:blipFill>
          <a:blip r:embed="rId3"/>
          <a:stretch>
            <a:fillRect/>
          </a:stretch>
        </p:blipFill>
        <p:spPr>
          <a:xfrm>
            <a:off x="6229622" y="4914824"/>
            <a:ext cx="2206943" cy="1737511"/>
          </a:xfrm>
          <a:prstGeom prst="rect">
            <a:avLst/>
          </a:prstGeom>
        </p:spPr>
      </p:pic>
      <p:pic>
        <p:nvPicPr>
          <p:cNvPr id="31" name="Picture 30">
            <a:extLst>
              <a:ext uri="{FF2B5EF4-FFF2-40B4-BE49-F238E27FC236}">
                <a16:creationId xmlns:a16="http://schemas.microsoft.com/office/drawing/2014/main" id="{858309A1-ABA2-4B8F-AEAA-D7B457CAA2A5}"/>
              </a:ext>
            </a:extLst>
          </p:cNvPr>
          <p:cNvPicPr>
            <a:picLocks noChangeAspect="1"/>
          </p:cNvPicPr>
          <p:nvPr/>
        </p:nvPicPr>
        <p:blipFill>
          <a:blip r:embed="rId3"/>
          <a:stretch>
            <a:fillRect/>
          </a:stretch>
        </p:blipFill>
        <p:spPr>
          <a:xfrm>
            <a:off x="5195098" y="1791835"/>
            <a:ext cx="2206943" cy="1737511"/>
          </a:xfrm>
          <a:prstGeom prst="rect">
            <a:avLst/>
          </a:prstGeom>
        </p:spPr>
      </p:pic>
      <p:pic>
        <p:nvPicPr>
          <p:cNvPr id="30" name="Picture 29">
            <a:extLst>
              <a:ext uri="{FF2B5EF4-FFF2-40B4-BE49-F238E27FC236}">
                <a16:creationId xmlns:a16="http://schemas.microsoft.com/office/drawing/2014/main" id="{F18F03AE-1DD8-4ED9-BC8C-84DF6DCCF2F1}"/>
              </a:ext>
            </a:extLst>
          </p:cNvPr>
          <p:cNvPicPr>
            <a:picLocks noChangeAspect="1"/>
          </p:cNvPicPr>
          <p:nvPr/>
        </p:nvPicPr>
        <p:blipFill>
          <a:blip r:embed="rId3"/>
          <a:stretch>
            <a:fillRect/>
          </a:stretch>
        </p:blipFill>
        <p:spPr>
          <a:xfrm>
            <a:off x="3654130" y="3488712"/>
            <a:ext cx="2206943" cy="1737511"/>
          </a:xfrm>
          <a:prstGeom prst="rect">
            <a:avLst/>
          </a:prstGeom>
        </p:spPr>
      </p:pic>
      <p:pic>
        <p:nvPicPr>
          <p:cNvPr id="29" name="Picture 28">
            <a:extLst>
              <a:ext uri="{FF2B5EF4-FFF2-40B4-BE49-F238E27FC236}">
                <a16:creationId xmlns:a16="http://schemas.microsoft.com/office/drawing/2014/main" id="{0A60549F-33CF-4849-9836-357229C1744F}"/>
              </a:ext>
            </a:extLst>
          </p:cNvPr>
          <p:cNvPicPr>
            <a:picLocks noChangeAspect="1"/>
          </p:cNvPicPr>
          <p:nvPr/>
        </p:nvPicPr>
        <p:blipFill>
          <a:blip r:embed="rId3"/>
          <a:stretch>
            <a:fillRect/>
          </a:stretch>
        </p:blipFill>
        <p:spPr>
          <a:xfrm>
            <a:off x="971576" y="4311232"/>
            <a:ext cx="2206943" cy="1737511"/>
          </a:xfrm>
          <a:prstGeom prst="rect">
            <a:avLst/>
          </a:prstGeom>
        </p:spPr>
      </p:pic>
      <p:sp>
        <p:nvSpPr>
          <p:cNvPr id="2" name="Hexagon 1">
            <a:extLst>
              <a:ext uri="{FF2B5EF4-FFF2-40B4-BE49-F238E27FC236}">
                <a16:creationId xmlns:a16="http://schemas.microsoft.com/office/drawing/2014/main" id="{E4382BBA-3C64-47CF-8B36-D0224478960B}"/>
              </a:ext>
            </a:extLst>
          </p:cNvPr>
          <p:cNvSpPr/>
          <p:nvPr/>
        </p:nvSpPr>
        <p:spPr>
          <a:xfrm>
            <a:off x="469392" y="1536192"/>
            <a:ext cx="2209582" cy="1737360"/>
          </a:xfrm>
          <a:prstGeom prst="hexagon">
            <a:avLst/>
          </a:prstGeom>
          <a:solidFill>
            <a:srgbClr val="F2F5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Korištene tehnologije</a:t>
            </a:r>
            <a:endParaRPr lang="en-US" sz="3000" dirty="0"/>
          </a:p>
        </p:txBody>
      </p:sp>
      <p:sp>
        <p:nvSpPr>
          <p:cNvPr id="5" name="Text 2"/>
          <p:cNvSpPr/>
          <p:nvPr/>
        </p:nvSpPr>
        <p:spPr>
          <a:xfrm>
            <a:off x="1025434" y="1700784"/>
            <a:ext cx="2340864" cy="365760"/>
          </a:xfrm>
          <a:prstGeom prst="rect">
            <a:avLst/>
          </a:prstGeom>
          <a:noFill/>
          <a:ln/>
        </p:spPr>
        <p:txBody>
          <a:bodyPr wrap="square" lIns="0" tIns="0" rIns="0" bIns="0" rtlCol="0" anchor="ctr"/>
          <a:lstStyle/>
          <a:p>
            <a:pPr marL="0" indent="0">
              <a:buNone/>
            </a:pPr>
            <a:r>
              <a:rPr lang="en-US" sz="1550" b="1" dirty="0">
                <a:solidFill>
                  <a:srgbClr val="0A6B62"/>
                </a:solidFill>
                <a:latin typeface="Calibri" pitchFamily="34" charset="0"/>
                <a:ea typeface="Calibri" pitchFamily="34" charset="-122"/>
                <a:cs typeface="Calibri" pitchFamily="34" charset="-120"/>
              </a:rPr>
              <a:t>Python 3.13</a:t>
            </a:r>
            <a:endParaRPr lang="en-US" sz="1550" dirty="0"/>
          </a:p>
        </p:txBody>
      </p:sp>
      <p:sp>
        <p:nvSpPr>
          <p:cNvPr id="6" name="Text 3"/>
          <p:cNvSpPr/>
          <p:nvPr/>
        </p:nvSpPr>
        <p:spPr>
          <a:xfrm>
            <a:off x="633984" y="2052828"/>
            <a:ext cx="2340864" cy="77724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programski jezik cijelog sustava</a:t>
            </a:r>
            <a:endParaRPr lang="en-US" sz="1200" dirty="0"/>
          </a:p>
        </p:txBody>
      </p:sp>
      <p:sp>
        <p:nvSpPr>
          <p:cNvPr id="8" name="Text 5"/>
          <p:cNvSpPr/>
          <p:nvPr/>
        </p:nvSpPr>
        <p:spPr>
          <a:xfrm>
            <a:off x="5625520" y="2274244"/>
            <a:ext cx="2340864" cy="365760"/>
          </a:xfrm>
          <a:prstGeom prst="rect">
            <a:avLst/>
          </a:prstGeom>
          <a:noFill/>
          <a:ln/>
        </p:spPr>
        <p:txBody>
          <a:bodyPr wrap="square" lIns="0" tIns="0" rIns="0" bIns="0" rtlCol="0" anchor="ctr"/>
          <a:lstStyle/>
          <a:p>
            <a:pPr marL="0" indent="0">
              <a:buNone/>
            </a:pPr>
            <a:r>
              <a:rPr lang="en-US" sz="1550" b="1" dirty="0">
                <a:solidFill>
                  <a:srgbClr val="0A6B62"/>
                </a:solidFill>
                <a:latin typeface="Calibri" pitchFamily="34" charset="0"/>
                <a:ea typeface="Calibri" pitchFamily="34" charset="-122"/>
                <a:cs typeface="Calibri" pitchFamily="34" charset="-120"/>
              </a:rPr>
              <a:t>FastAPI + Uvicorn</a:t>
            </a:r>
            <a:endParaRPr lang="en-US" sz="1550" dirty="0"/>
          </a:p>
        </p:txBody>
      </p:sp>
      <p:sp>
        <p:nvSpPr>
          <p:cNvPr id="9" name="Text 6"/>
          <p:cNvSpPr/>
          <p:nvPr/>
        </p:nvSpPr>
        <p:spPr>
          <a:xfrm>
            <a:off x="5458968" y="2496312"/>
            <a:ext cx="2340864" cy="77724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REST API i ASGI poslužitelj</a:t>
            </a:r>
            <a:endParaRPr lang="en-US" sz="1200" dirty="0"/>
          </a:p>
        </p:txBody>
      </p:sp>
      <p:sp>
        <p:nvSpPr>
          <p:cNvPr id="11" name="Text 8"/>
          <p:cNvSpPr/>
          <p:nvPr/>
        </p:nvSpPr>
        <p:spPr>
          <a:xfrm>
            <a:off x="8471590" y="3008376"/>
            <a:ext cx="2340864" cy="365760"/>
          </a:xfrm>
          <a:prstGeom prst="rect">
            <a:avLst/>
          </a:prstGeom>
          <a:noFill/>
          <a:ln/>
        </p:spPr>
        <p:txBody>
          <a:bodyPr wrap="square" lIns="0" tIns="0" rIns="0" bIns="0" rtlCol="0" anchor="ctr"/>
          <a:lstStyle/>
          <a:p>
            <a:pPr marL="0" indent="0">
              <a:buNone/>
            </a:pPr>
            <a:r>
              <a:rPr lang="en-US" sz="1550" b="1" dirty="0">
                <a:solidFill>
                  <a:srgbClr val="0A6B62"/>
                </a:solidFill>
                <a:latin typeface="Calibri" pitchFamily="34" charset="0"/>
                <a:ea typeface="Calibri" pitchFamily="34" charset="-122"/>
                <a:cs typeface="Calibri" pitchFamily="34" charset="-120"/>
              </a:rPr>
              <a:t>PostgreSQL</a:t>
            </a:r>
            <a:endParaRPr lang="en-US" sz="1550" dirty="0"/>
          </a:p>
        </p:txBody>
      </p:sp>
      <p:sp>
        <p:nvSpPr>
          <p:cNvPr id="12" name="Text 9"/>
          <p:cNvSpPr/>
          <p:nvPr/>
        </p:nvSpPr>
        <p:spPr>
          <a:xfrm>
            <a:off x="7966384" y="3337560"/>
            <a:ext cx="2340864" cy="77724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relacijska baza s JSON stupcima</a:t>
            </a:r>
            <a:endParaRPr lang="en-US" sz="1200" dirty="0"/>
          </a:p>
        </p:txBody>
      </p:sp>
      <p:sp>
        <p:nvSpPr>
          <p:cNvPr id="14" name="Text 11"/>
          <p:cNvSpPr/>
          <p:nvPr/>
        </p:nvSpPr>
        <p:spPr>
          <a:xfrm>
            <a:off x="10093669" y="932688"/>
            <a:ext cx="2340864" cy="365760"/>
          </a:xfrm>
          <a:prstGeom prst="rect">
            <a:avLst/>
          </a:prstGeom>
          <a:noFill/>
          <a:ln/>
        </p:spPr>
        <p:txBody>
          <a:bodyPr wrap="square" lIns="0" tIns="0" rIns="0" bIns="0" rtlCol="0" anchor="ctr"/>
          <a:lstStyle/>
          <a:p>
            <a:pPr marL="0" indent="0">
              <a:buNone/>
            </a:pPr>
            <a:r>
              <a:rPr lang="en-US" sz="1550" b="1" dirty="0">
                <a:solidFill>
                  <a:srgbClr val="0A6B62"/>
                </a:solidFill>
                <a:latin typeface="Calibri" pitchFamily="34" charset="0"/>
                <a:ea typeface="Calibri" pitchFamily="34" charset="-122"/>
                <a:cs typeface="Calibri" pitchFamily="34" charset="-120"/>
              </a:rPr>
              <a:t>SQLAlchemy</a:t>
            </a:r>
            <a:endParaRPr lang="en-US" sz="1550" dirty="0"/>
          </a:p>
        </p:txBody>
      </p:sp>
      <p:sp>
        <p:nvSpPr>
          <p:cNvPr id="15" name="Text 12"/>
          <p:cNvSpPr/>
          <p:nvPr/>
        </p:nvSpPr>
        <p:spPr>
          <a:xfrm>
            <a:off x="10007182" y="1211580"/>
            <a:ext cx="2340864" cy="77724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ORM i pristup bazi</a:t>
            </a:r>
            <a:endParaRPr lang="en-US" sz="1200" dirty="0"/>
          </a:p>
        </p:txBody>
      </p:sp>
      <p:sp>
        <p:nvSpPr>
          <p:cNvPr id="17" name="Text 14"/>
          <p:cNvSpPr/>
          <p:nvPr/>
        </p:nvSpPr>
        <p:spPr>
          <a:xfrm>
            <a:off x="1574183" y="4690872"/>
            <a:ext cx="2340864" cy="365760"/>
          </a:xfrm>
          <a:prstGeom prst="rect">
            <a:avLst/>
          </a:prstGeom>
          <a:noFill/>
          <a:ln/>
        </p:spPr>
        <p:txBody>
          <a:bodyPr wrap="square" lIns="0" tIns="0" rIns="0" bIns="0" rtlCol="0" anchor="ctr"/>
          <a:lstStyle/>
          <a:p>
            <a:pPr marL="0" indent="0">
              <a:buNone/>
            </a:pPr>
            <a:r>
              <a:rPr lang="en-US" sz="1550" b="1" dirty="0">
                <a:solidFill>
                  <a:srgbClr val="0A6B62"/>
                </a:solidFill>
                <a:latin typeface="Calibri" pitchFamily="34" charset="0"/>
                <a:ea typeface="Calibri" pitchFamily="34" charset="-122"/>
                <a:cs typeface="Calibri" pitchFamily="34" charset="-120"/>
              </a:rPr>
              <a:t>Pydantic</a:t>
            </a:r>
            <a:endParaRPr lang="en-US" sz="1550" dirty="0"/>
          </a:p>
        </p:txBody>
      </p:sp>
      <p:sp>
        <p:nvSpPr>
          <p:cNvPr id="18" name="Text 15"/>
          <p:cNvSpPr/>
          <p:nvPr/>
        </p:nvSpPr>
        <p:spPr>
          <a:xfrm>
            <a:off x="1456610" y="4892593"/>
            <a:ext cx="2340864" cy="77724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sheme i </a:t>
            </a:r>
            <a:r>
              <a:rPr lang="en-US" sz="1200" dirty="0" err="1">
                <a:solidFill>
                  <a:srgbClr val="1A2420"/>
                </a:solidFill>
                <a:latin typeface="Calibri" pitchFamily="34" charset="0"/>
                <a:ea typeface="Calibri" pitchFamily="34" charset="-122"/>
                <a:cs typeface="Calibri" pitchFamily="34" charset="-120"/>
              </a:rPr>
              <a:t>validacija</a:t>
            </a:r>
            <a:r>
              <a:rPr lang="en-US" sz="1200" dirty="0">
                <a:solidFill>
                  <a:srgbClr val="1A2420"/>
                </a:solidFill>
                <a:latin typeface="Calibri" pitchFamily="34" charset="0"/>
                <a:ea typeface="Calibri" pitchFamily="34" charset="-122"/>
                <a:cs typeface="Calibri" pitchFamily="34" charset="-120"/>
              </a:rPr>
              <a:t> </a:t>
            </a:r>
            <a:endParaRPr lang="en-US" sz="1200" dirty="0"/>
          </a:p>
        </p:txBody>
      </p:sp>
      <p:sp>
        <p:nvSpPr>
          <p:cNvPr id="20" name="Text 17"/>
          <p:cNvSpPr/>
          <p:nvPr/>
        </p:nvSpPr>
        <p:spPr>
          <a:xfrm>
            <a:off x="4288536" y="3749040"/>
            <a:ext cx="2340864" cy="365760"/>
          </a:xfrm>
          <a:prstGeom prst="rect">
            <a:avLst/>
          </a:prstGeom>
          <a:noFill/>
          <a:ln/>
        </p:spPr>
        <p:txBody>
          <a:bodyPr wrap="square" lIns="0" tIns="0" rIns="0" bIns="0" rtlCol="0" anchor="ctr"/>
          <a:lstStyle/>
          <a:p>
            <a:pPr marL="0" indent="0">
              <a:buNone/>
            </a:pPr>
            <a:r>
              <a:rPr lang="en-US" sz="1550" b="1" dirty="0" err="1">
                <a:solidFill>
                  <a:srgbClr val="0A6B62"/>
                </a:solidFill>
                <a:latin typeface="Calibri" pitchFamily="34" charset="0"/>
                <a:ea typeface="Calibri" pitchFamily="34" charset="-122"/>
                <a:cs typeface="Calibri" pitchFamily="34" charset="-120"/>
              </a:rPr>
              <a:t>Ollama</a:t>
            </a:r>
            <a:endParaRPr lang="en-US" sz="1550" b="1" dirty="0">
              <a:solidFill>
                <a:srgbClr val="0A6B62"/>
              </a:solidFill>
              <a:latin typeface="Calibri" pitchFamily="34" charset="0"/>
              <a:ea typeface="Calibri" pitchFamily="34" charset="-122"/>
              <a:cs typeface="Calibri" pitchFamily="34" charset="-120"/>
            </a:endParaRPr>
          </a:p>
        </p:txBody>
      </p:sp>
      <p:sp>
        <p:nvSpPr>
          <p:cNvPr id="21" name="Text 18"/>
          <p:cNvSpPr/>
          <p:nvPr/>
        </p:nvSpPr>
        <p:spPr>
          <a:xfrm>
            <a:off x="3794760" y="3992336"/>
            <a:ext cx="2340864" cy="77724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lokalni LLM: Llama 3, Qwen 2.5</a:t>
            </a:r>
            <a:endParaRPr lang="en-US" sz="1200" dirty="0"/>
          </a:p>
        </p:txBody>
      </p:sp>
      <p:sp>
        <p:nvSpPr>
          <p:cNvPr id="23" name="Text 20"/>
          <p:cNvSpPr/>
          <p:nvPr/>
        </p:nvSpPr>
        <p:spPr>
          <a:xfrm>
            <a:off x="7008197" y="5239274"/>
            <a:ext cx="2340864" cy="365760"/>
          </a:xfrm>
          <a:prstGeom prst="rect">
            <a:avLst/>
          </a:prstGeom>
          <a:noFill/>
          <a:ln/>
        </p:spPr>
        <p:txBody>
          <a:bodyPr wrap="square" lIns="0" tIns="0" rIns="0" bIns="0" rtlCol="0" anchor="ctr"/>
          <a:lstStyle/>
          <a:p>
            <a:pPr marL="0" indent="0">
              <a:buNone/>
            </a:pPr>
            <a:r>
              <a:rPr lang="en-US" sz="1550" b="1" dirty="0">
                <a:solidFill>
                  <a:srgbClr val="0A6B62"/>
                </a:solidFill>
                <a:latin typeface="Calibri" pitchFamily="34" charset="0"/>
                <a:ea typeface="Calibri" pitchFamily="34" charset="-122"/>
                <a:cs typeface="Calibri" pitchFamily="34" charset="-120"/>
              </a:rPr>
              <a:t>pytest</a:t>
            </a:r>
            <a:endParaRPr lang="en-US" sz="1550" dirty="0"/>
          </a:p>
        </p:txBody>
      </p:sp>
      <p:sp>
        <p:nvSpPr>
          <p:cNvPr id="24" name="Text 21"/>
          <p:cNvSpPr/>
          <p:nvPr/>
        </p:nvSpPr>
        <p:spPr>
          <a:xfrm>
            <a:off x="6433784" y="5549517"/>
            <a:ext cx="2340864" cy="77724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115 automatiziranih testova</a:t>
            </a:r>
            <a:endParaRPr lang="en-US" sz="1200" dirty="0"/>
          </a:p>
        </p:txBody>
      </p:sp>
      <p:sp>
        <p:nvSpPr>
          <p:cNvPr id="26" name="Text 23"/>
          <p:cNvSpPr/>
          <p:nvPr/>
        </p:nvSpPr>
        <p:spPr>
          <a:xfrm>
            <a:off x="9791646" y="4768923"/>
            <a:ext cx="2340864" cy="365760"/>
          </a:xfrm>
          <a:prstGeom prst="rect">
            <a:avLst/>
          </a:prstGeom>
          <a:noFill/>
          <a:ln/>
        </p:spPr>
        <p:txBody>
          <a:bodyPr wrap="square" lIns="0" tIns="0" rIns="0" bIns="0" rtlCol="0" anchor="ctr"/>
          <a:lstStyle/>
          <a:p>
            <a:pPr marL="0" indent="0">
              <a:buNone/>
            </a:pPr>
            <a:r>
              <a:rPr lang="en-US" sz="1550" b="1" dirty="0">
                <a:solidFill>
                  <a:srgbClr val="0A6B62"/>
                </a:solidFill>
                <a:latin typeface="Calibri" pitchFamily="34" charset="0"/>
                <a:ea typeface="Calibri" pitchFamily="34" charset="-122"/>
                <a:cs typeface="Calibri" pitchFamily="34" charset="-120"/>
              </a:rPr>
              <a:t>Swagger / OpenAPI</a:t>
            </a:r>
            <a:endParaRPr lang="en-US" sz="1550" dirty="0"/>
          </a:p>
        </p:txBody>
      </p:sp>
      <p:sp>
        <p:nvSpPr>
          <p:cNvPr id="27" name="Text 24"/>
          <p:cNvSpPr/>
          <p:nvPr/>
        </p:nvSpPr>
        <p:spPr>
          <a:xfrm>
            <a:off x="9503610" y="5016137"/>
            <a:ext cx="2340864" cy="77724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automatska dokumentacija API-ja</a:t>
            </a:r>
            <a:endParaRPr lang="en-US" sz="1200" dirty="0"/>
          </a:p>
        </p:txBody>
      </p:sp>
      <p:sp>
        <p:nvSpPr>
          <p:cNvPr id="28" name="Text 25"/>
          <p:cNvSpPr/>
          <p:nvPr/>
        </p:nvSpPr>
        <p:spPr>
          <a:xfrm>
            <a:off x="548640" y="5349240"/>
            <a:ext cx="11091672" cy="411480"/>
          </a:xfrm>
          <a:prstGeom prst="rect">
            <a:avLst/>
          </a:prstGeom>
          <a:noFill/>
          <a:ln/>
        </p:spPr>
        <p:txBody>
          <a:bodyPr wrap="square" lIns="0" tIns="0" rIns="0" bIns="0" rtlCol="0" anchor="ctr"/>
          <a:lstStyle/>
          <a:p>
            <a:pPr marL="0" indent="0">
              <a:buNone/>
            </a:pP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Arhitektura sustava</a:t>
            </a:r>
            <a:endParaRPr lang="en-US" sz="3000" dirty="0"/>
          </a:p>
        </p:txBody>
      </p:sp>
      <p:sp>
        <p:nvSpPr>
          <p:cNvPr id="4" name="Text 1"/>
          <p:cNvSpPr/>
          <p:nvPr/>
        </p:nvSpPr>
        <p:spPr>
          <a:xfrm>
            <a:off x="548640" y="1463040"/>
            <a:ext cx="4846320" cy="4023360"/>
          </a:xfrm>
          <a:prstGeom prst="rect">
            <a:avLst/>
          </a:prstGeom>
          <a:noFill/>
          <a:ln/>
        </p:spPr>
        <p:txBody>
          <a:bodyPr wrap="square" lIns="0" tIns="0" rIns="0" bIns="0" rtlCol="0" anchor="ctr"/>
          <a:lstStyle/>
          <a:p>
            <a:pPr marL="177800" indent="-177800">
              <a:spcAft>
                <a:spcPts val="1400"/>
              </a:spcAft>
              <a:buSzPct val="100000"/>
              <a:buChar char="•"/>
            </a:pPr>
            <a:r>
              <a:rPr lang="en-US" sz="1500" dirty="0">
                <a:solidFill>
                  <a:srgbClr val="1A2420"/>
                </a:solidFill>
                <a:latin typeface="Calibri" pitchFamily="34" charset="0"/>
                <a:ea typeface="Calibri" pitchFamily="34" charset="-122"/>
                <a:cs typeface="Calibri" pitchFamily="34" charset="-120"/>
              </a:rPr>
              <a:t>5 slojeva, svaki s jednom odgovornošću</a:t>
            </a:r>
            <a:endParaRPr lang="en-US" sz="1500" dirty="0"/>
          </a:p>
          <a:p>
            <a:pPr marL="177800" indent="-177800">
              <a:spcAft>
                <a:spcPts val="1400"/>
              </a:spcAft>
              <a:buSzPct val="100000"/>
              <a:buChar char="•"/>
            </a:pPr>
            <a:r>
              <a:rPr lang="en-US" sz="1500" dirty="0">
                <a:solidFill>
                  <a:srgbClr val="1A2420"/>
                </a:solidFill>
                <a:latin typeface="Calibri" pitchFamily="34" charset="0"/>
                <a:ea typeface="Calibri" pitchFamily="34" charset="-122"/>
                <a:cs typeface="Calibri" pitchFamily="34" charset="-120"/>
              </a:rPr>
              <a:t>API sloj → sheme → servisi → repozitorij → baza</a:t>
            </a:r>
            <a:endParaRPr lang="en-US" sz="1500" dirty="0"/>
          </a:p>
          <a:p>
            <a:pPr marL="177800" indent="-177800">
              <a:spcAft>
                <a:spcPts val="1400"/>
              </a:spcAft>
              <a:buSzPct val="100000"/>
              <a:buChar char="•"/>
            </a:pPr>
            <a:r>
              <a:rPr lang="en-US" sz="1500" dirty="0">
                <a:solidFill>
                  <a:srgbClr val="1A2420"/>
                </a:solidFill>
                <a:latin typeface="Calibri" pitchFamily="34" charset="0"/>
                <a:ea typeface="Calibri" pitchFamily="34" charset="-122"/>
                <a:cs typeface="Calibri" pitchFamily="34" charset="-120"/>
              </a:rPr>
              <a:t>Sva komunikacija s LLM-om u jednom modulu (llm_client)</a:t>
            </a:r>
            <a:endParaRPr lang="en-US" sz="1500" dirty="0"/>
          </a:p>
          <a:p>
            <a:pPr marL="177800" indent="-177800">
              <a:spcAft>
                <a:spcPts val="1400"/>
              </a:spcAft>
              <a:buSzPct val="100000"/>
              <a:buChar char="•"/>
            </a:pPr>
            <a:r>
              <a:rPr lang="en-US" sz="1500" dirty="0">
                <a:solidFill>
                  <a:srgbClr val="1A2420"/>
                </a:solidFill>
                <a:latin typeface="Calibri" pitchFamily="34" charset="0"/>
                <a:ea typeface="Calibri" pitchFamily="34" charset="-122"/>
                <a:cs typeface="Calibri" pitchFamily="34" charset="-120"/>
              </a:rPr>
              <a:t>Zamjena modela = jedna konfiguracijska varijabla</a:t>
            </a:r>
            <a:endParaRPr lang="en-US" sz="1500" dirty="0"/>
          </a:p>
          <a:p>
            <a:pPr marL="177800" indent="-177800">
              <a:spcAft>
                <a:spcPts val="1400"/>
              </a:spcAft>
              <a:buSzPct val="100000"/>
              <a:buChar char="•"/>
            </a:pPr>
            <a:r>
              <a:rPr lang="en-US" sz="1500" dirty="0">
                <a:solidFill>
                  <a:srgbClr val="1A2420"/>
                </a:solidFill>
                <a:latin typeface="Calibri" pitchFamily="34" charset="0"/>
                <a:ea typeface="Calibri" pitchFamily="34" charset="-122"/>
                <a:cs typeface="Calibri" pitchFamily="34" charset="-120"/>
              </a:rPr>
              <a:t>Slojevitost omogućuje testiranje bez baze i bez LLM-a</a:t>
            </a:r>
            <a:endParaRPr lang="en-US" sz="1500" dirty="0"/>
          </a:p>
        </p:txBody>
      </p:sp>
      <p:pic>
        <p:nvPicPr>
          <p:cNvPr id="5" name="Image 0" descr="prez/arch.png"/>
          <p:cNvPicPr>
            <a:picLocks noChangeAspect="1"/>
          </p:cNvPicPr>
          <p:nvPr/>
        </p:nvPicPr>
        <p:blipFill>
          <a:blip r:embed="rId3"/>
          <a:stretch>
            <a:fillRect/>
          </a:stretch>
        </p:blipFill>
        <p:spPr>
          <a:xfrm>
            <a:off x="5623560" y="1234440"/>
            <a:ext cx="6035040" cy="4379976"/>
          </a:xfrm>
          <a:prstGeom prst="rect">
            <a:avLst/>
          </a:prstGeom>
        </p:spPr>
      </p:pic>
      <p:sp>
        <p:nvSpPr>
          <p:cNvPr id="6" name="Text 2"/>
          <p:cNvSpPr/>
          <p:nvPr/>
        </p:nvSpPr>
        <p:spPr>
          <a:xfrm>
            <a:off x="5623560" y="5669280"/>
            <a:ext cx="6035040" cy="320040"/>
          </a:xfrm>
          <a:prstGeom prst="rect">
            <a:avLst/>
          </a:prstGeom>
          <a:noFill/>
          <a:ln/>
        </p:spPr>
        <p:txBody>
          <a:bodyPr wrap="square" lIns="0" tIns="0" rIns="0" bIns="0" rtlCol="0" anchor="ctr"/>
          <a:lstStyle/>
          <a:p>
            <a:pPr marL="0" indent="0" algn="ctr">
              <a:buNone/>
            </a:pPr>
            <a:r>
              <a:rPr lang="en-US" sz="1100" i="1" dirty="0">
                <a:solidFill>
                  <a:srgbClr val="5C6D69"/>
                </a:solidFill>
                <a:latin typeface="Calibri" pitchFamily="34" charset="0"/>
                <a:ea typeface="Calibri" pitchFamily="34" charset="-122"/>
                <a:cs typeface="Calibri" pitchFamily="34" charset="-120"/>
              </a:rPr>
              <a:t>Slika: slojevita arhitektura (iz rada, poglavlje 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Tijek obrade zahtjeva  —  POST /recommend</a:t>
            </a:r>
            <a:endParaRPr lang="en-US" sz="3000" dirty="0"/>
          </a:p>
        </p:txBody>
      </p:sp>
      <p:sp>
        <p:nvSpPr>
          <p:cNvPr id="5" name="Text 1"/>
          <p:cNvSpPr/>
          <p:nvPr/>
        </p:nvSpPr>
        <p:spPr>
          <a:xfrm>
            <a:off x="5669280" y="1417320"/>
            <a:ext cx="5943600" cy="384048"/>
          </a:xfrm>
          <a:prstGeom prst="rect">
            <a:avLst/>
          </a:prstGeom>
          <a:noFill/>
          <a:ln/>
        </p:spPr>
        <p:txBody>
          <a:bodyPr wrap="square" lIns="0" tIns="0" rIns="0" bIns="0" rtlCol="0" anchor="ctr"/>
          <a:lstStyle/>
          <a:p>
            <a:pPr marL="0" indent="0">
              <a:buNone/>
            </a:pPr>
            <a:r>
              <a:rPr lang="en-US" sz="1450" b="1" dirty="0">
                <a:solidFill>
                  <a:srgbClr val="0A6B62"/>
                </a:solidFill>
                <a:latin typeface="Calibri" pitchFamily="34" charset="0"/>
                <a:ea typeface="Calibri" pitchFamily="34" charset="-122"/>
                <a:cs typeface="Calibri" pitchFamily="34" charset="-120"/>
              </a:rPr>
              <a:t>1.  </a:t>
            </a:r>
            <a:r>
              <a:rPr lang="en-US" sz="1450" dirty="0">
                <a:solidFill>
                  <a:srgbClr val="1A2420"/>
                </a:solidFill>
                <a:latin typeface="Calibri" pitchFamily="34" charset="0"/>
                <a:ea typeface="Calibri" pitchFamily="34" charset="-122"/>
                <a:cs typeface="Calibri" pitchFamily="34" charset="-120"/>
              </a:rPr>
              <a:t>Korisnik šalje profile_text i goals_text</a:t>
            </a:r>
            <a:endParaRPr lang="en-US" sz="1450" dirty="0"/>
          </a:p>
        </p:txBody>
      </p:sp>
      <p:sp>
        <p:nvSpPr>
          <p:cNvPr id="6" name="Text 2"/>
          <p:cNvSpPr/>
          <p:nvPr/>
        </p:nvSpPr>
        <p:spPr>
          <a:xfrm>
            <a:off x="5669280" y="1892808"/>
            <a:ext cx="5943600" cy="384048"/>
          </a:xfrm>
          <a:prstGeom prst="rect">
            <a:avLst/>
          </a:prstGeom>
          <a:noFill/>
          <a:ln/>
        </p:spPr>
        <p:txBody>
          <a:bodyPr wrap="square" lIns="0" tIns="0" rIns="0" bIns="0" rtlCol="0" anchor="ctr"/>
          <a:lstStyle/>
          <a:p>
            <a:pPr marL="0" indent="0">
              <a:buNone/>
            </a:pPr>
            <a:r>
              <a:rPr lang="en-US" sz="1450" b="1" dirty="0">
                <a:solidFill>
                  <a:srgbClr val="0A6B62"/>
                </a:solidFill>
                <a:latin typeface="Calibri" pitchFamily="34" charset="0"/>
                <a:ea typeface="Calibri" pitchFamily="34" charset="-122"/>
                <a:cs typeface="Calibri" pitchFamily="34" charset="-120"/>
              </a:rPr>
              <a:t>2.  Provjera unosa (prazan → HTTP 400/422)</a:t>
            </a:r>
            <a:endParaRPr lang="en-US" sz="1450" dirty="0"/>
          </a:p>
        </p:txBody>
      </p:sp>
      <p:sp>
        <p:nvSpPr>
          <p:cNvPr id="7" name="Text 3"/>
          <p:cNvSpPr/>
          <p:nvPr/>
        </p:nvSpPr>
        <p:spPr>
          <a:xfrm>
            <a:off x="5669280" y="2368296"/>
            <a:ext cx="5943600" cy="384048"/>
          </a:xfrm>
          <a:prstGeom prst="rect">
            <a:avLst/>
          </a:prstGeom>
          <a:noFill/>
          <a:ln/>
        </p:spPr>
        <p:txBody>
          <a:bodyPr wrap="square" lIns="0" tIns="0" rIns="0" bIns="0" rtlCol="0" anchor="ctr"/>
          <a:lstStyle/>
          <a:p>
            <a:pPr marL="0" indent="0">
              <a:buNone/>
            </a:pPr>
            <a:r>
              <a:rPr lang="en-US" sz="1450" b="1" dirty="0">
                <a:solidFill>
                  <a:srgbClr val="0A6B62"/>
                </a:solidFill>
                <a:latin typeface="Calibri" pitchFamily="34" charset="0"/>
                <a:ea typeface="Calibri" pitchFamily="34" charset="-122"/>
                <a:cs typeface="Calibri" pitchFamily="34" charset="-120"/>
              </a:rPr>
              <a:t>3.  </a:t>
            </a:r>
            <a:r>
              <a:rPr lang="en-US" sz="1450" b="1" dirty="0">
                <a:solidFill>
                  <a:srgbClr val="6D4FC4"/>
                </a:solidFill>
                <a:latin typeface="Calibri" pitchFamily="34" charset="0"/>
                <a:ea typeface="Calibri" pitchFamily="34" charset="-122"/>
                <a:cs typeface="Calibri" pitchFamily="34" charset="-120"/>
              </a:rPr>
              <a:t>LLM parsira profil i ciljeve u JSON</a:t>
            </a:r>
            <a:endParaRPr lang="en-US" sz="1450" dirty="0"/>
          </a:p>
        </p:txBody>
      </p:sp>
      <p:sp>
        <p:nvSpPr>
          <p:cNvPr id="8" name="Text 4"/>
          <p:cNvSpPr/>
          <p:nvPr/>
        </p:nvSpPr>
        <p:spPr>
          <a:xfrm>
            <a:off x="5669280" y="2843784"/>
            <a:ext cx="5943600" cy="384048"/>
          </a:xfrm>
          <a:prstGeom prst="rect">
            <a:avLst/>
          </a:prstGeom>
          <a:noFill/>
          <a:ln/>
        </p:spPr>
        <p:txBody>
          <a:bodyPr wrap="square" lIns="0" tIns="0" rIns="0" bIns="0" rtlCol="0" anchor="ctr"/>
          <a:lstStyle/>
          <a:p>
            <a:pPr marL="0" indent="0">
              <a:buNone/>
            </a:pPr>
            <a:r>
              <a:rPr lang="en-US" sz="1450" b="1" dirty="0">
                <a:solidFill>
                  <a:srgbClr val="0A6B62"/>
                </a:solidFill>
                <a:latin typeface="Calibri" pitchFamily="34" charset="0"/>
                <a:ea typeface="Calibri" pitchFamily="34" charset="-122"/>
                <a:cs typeface="Calibri" pitchFamily="34" charset="-120"/>
              </a:rPr>
              <a:t>4.  </a:t>
            </a:r>
            <a:r>
              <a:rPr lang="en-US" sz="1450" dirty="0">
                <a:solidFill>
                  <a:srgbClr val="1A2420"/>
                </a:solidFill>
                <a:latin typeface="Calibri" pitchFamily="34" charset="0"/>
                <a:ea typeface="Calibri" pitchFamily="34" charset="-122"/>
                <a:cs typeface="Calibri" pitchFamily="34" charset="-120"/>
              </a:rPr>
              <a:t>Validacija (</a:t>
            </a:r>
            <a:r>
              <a:rPr lang="en-US" sz="1450" dirty="0" err="1">
                <a:solidFill>
                  <a:srgbClr val="1A2420"/>
                </a:solidFill>
                <a:latin typeface="Calibri" pitchFamily="34" charset="0"/>
                <a:ea typeface="Calibri" pitchFamily="34" charset="-122"/>
                <a:cs typeface="Calibri" pitchFamily="34" charset="-120"/>
              </a:rPr>
              <a:t>Pydantic</a:t>
            </a:r>
            <a:r>
              <a:rPr lang="en-US" sz="1450" dirty="0">
                <a:solidFill>
                  <a:srgbClr val="1A2420"/>
                </a:solidFill>
                <a:latin typeface="Calibri" pitchFamily="34" charset="0"/>
                <a:ea typeface="Calibri" pitchFamily="34" charset="-122"/>
                <a:cs typeface="Calibri" pitchFamily="34" charset="-120"/>
              </a:rPr>
              <a:t>)</a:t>
            </a:r>
            <a:endParaRPr lang="en-US" sz="1450" dirty="0"/>
          </a:p>
        </p:txBody>
      </p:sp>
      <p:sp>
        <p:nvSpPr>
          <p:cNvPr id="9" name="Text 5"/>
          <p:cNvSpPr/>
          <p:nvPr/>
        </p:nvSpPr>
        <p:spPr>
          <a:xfrm>
            <a:off x="5669280" y="3319272"/>
            <a:ext cx="5943600" cy="384048"/>
          </a:xfrm>
          <a:prstGeom prst="rect">
            <a:avLst/>
          </a:prstGeom>
          <a:noFill/>
          <a:ln/>
        </p:spPr>
        <p:txBody>
          <a:bodyPr wrap="square" lIns="0" tIns="0" rIns="0" bIns="0" rtlCol="0" anchor="ctr"/>
          <a:lstStyle/>
          <a:p>
            <a:pPr marL="0" indent="0">
              <a:buNone/>
            </a:pPr>
            <a:r>
              <a:rPr lang="en-US" sz="1450" b="1" dirty="0">
                <a:solidFill>
                  <a:srgbClr val="0A6B62"/>
                </a:solidFill>
                <a:latin typeface="Calibri" pitchFamily="34" charset="0"/>
                <a:ea typeface="Calibri" pitchFamily="34" charset="-122"/>
                <a:cs typeface="Calibri" pitchFamily="34" charset="-120"/>
              </a:rPr>
              <a:t>5.  Motor: faza 1 veto → faza 2 bodovanje</a:t>
            </a:r>
            <a:endParaRPr lang="en-US" sz="1450" dirty="0"/>
          </a:p>
        </p:txBody>
      </p:sp>
      <p:sp>
        <p:nvSpPr>
          <p:cNvPr id="10" name="Text 6"/>
          <p:cNvSpPr/>
          <p:nvPr/>
        </p:nvSpPr>
        <p:spPr>
          <a:xfrm>
            <a:off x="5669280" y="3794760"/>
            <a:ext cx="5943600" cy="384048"/>
          </a:xfrm>
          <a:prstGeom prst="rect">
            <a:avLst/>
          </a:prstGeom>
          <a:noFill/>
          <a:ln/>
        </p:spPr>
        <p:txBody>
          <a:bodyPr wrap="square" lIns="0" tIns="0" rIns="0" bIns="0" rtlCol="0" anchor="ctr"/>
          <a:lstStyle/>
          <a:p>
            <a:pPr marL="0" indent="0">
              <a:buNone/>
            </a:pPr>
            <a:r>
              <a:rPr lang="en-US" sz="1450" b="1" dirty="0">
                <a:solidFill>
                  <a:srgbClr val="0A6B62"/>
                </a:solidFill>
                <a:latin typeface="Calibri" pitchFamily="34" charset="0"/>
                <a:ea typeface="Calibri" pitchFamily="34" charset="-122"/>
                <a:cs typeface="Calibri" pitchFamily="34" charset="-120"/>
              </a:rPr>
              <a:t>6.  Filtriranje: prag, sortiranje, top 5</a:t>
            </a:r>
            <a:endParaRPr lang="en-US" sz="1450" dirty="0"/>
          </a:p>
        </p:txBody>
      </p:sp>
      <p:sp>
        <p:nvSpPr>
          <p:cNvPr id="11" name="Text 7"/>
          <p:cNvSpPr/>
          <p:nvPr/>
        </p:nvSpPr>
        <p:spPr>
          <a:xfrm>
            <a:off x="5669280" y="4270248"/>
            <a:ext cx="5943600" cy="384048"/>
          </a:xfrm>
          <a:prstGeom prst="rect">
            <a:avLst/>
          </a:prstGeom>
          <a:noFill/>
          <a:ln/>
        </p:spPr>
        <p:txBody>
          <a:bodyPr wrap="square" lIns="0" tIns="0" rIns="0" bIns="0" rtlCol="0" anchor="ctr"/>
          <a:lstStyle/>
          <a:p>
            <a:pPr marL="0" indent="0">
              <a:buNone/>
            </a:pPr>
            <a:r>
              <a:rPr lang="en-US" sz="1450" b="1" dirty="0">
                <a:solidFill>
                  <a:srgbClr val="0A6B62"/>
                </a:solidFill>
                <a:latin typeface="Calibri" pitchFamily="34" charset="0"/>
                <a:ea typeface="Calibri" pitchFamily="34" charset="-122"/>
                <a:cs typeface="Calibri" pitchFamily="34" charset="-120"/>
              </a:rPr>
              <a:t>7.  </a:t>
            </a:r>
            <a:r>
              <a:rPr lang="en-US" sz="1450" b="1" dirty="0">
                <a:solidFill>
                  <a:srgbClr val="6D4FC4"/>
                </a:solidFill>
                <a:latin typeface="Calibri" pitchFamily="34" charset="0"/>
                <a:ea typeface="Calibri" pitchFamily="34" charset="-122"/>
                <a:cs typeface="Calibri" pitchFamily="34" charset="-120"/>
              </a:rPr>
              <a:t>Objašnjenje (predložak ili LLM)</a:t>
            </a:r>
            <a:endParaRPr lang="en-US" sz="1450" dirty="0"/>
          </a:p>
        </p:txBody>
      </p:sp>
      <p:sp>
        <p:nvSpPr>
          <p:cNvPr id="12" name="Text 8"/>
          <p:cNvSpPr/>
          <p:nvPr/>
        </p:nvSpPr>
        <p:spPr>
          <a:xfrm>
            <a:off x="5669280" y="4745736"/>
            <a:ext cx="5943600" cy="384048"/>
          </a:xfrm>
          <a:prstGeom prst="rect">
            <a:avLst/>
          </a:prstGeom>
          <a:noFill/>
          <a:ln/>
        </p:spPr>
        <p:txBody>
          <a:bodyPr wrap="square" lIns="0" tIns="0" rIns="0" bIns="0" rtlCol="0" anchor="ctr"/>
          <a:lstStyle/>
          <a:p>
            <a:pPr marL="0" indent="0">
              <a:buNone/>
            </a:pPr>
            <a:r>
              <a:rPr lang="en-US" sz="1450" b="1" dirty="0">
                <a:solidFill>
                  <a:srgbClr val="0A6B62"/>
                </a:solidFill>
                <a:latin typeface="Calibri" pitchFamily="34" charset="0"/>
                <a:ea typeface="Calibri" pitchFamily="34" charset="-122"/>
                <a:cs typeface="Calibri" pitchFamily="34" charset="-120"/>
              </a:rPr>
              <a:t>8.  </a:t>
            </a:r>
            <a:r>
              <a:rPr lang="en-US" sz="1450" dirty="0">
                <a:solidFill>
                  <a:srgbClr val="1A2420"/>
                </a:solidFill>
                <a:latin typeface="Calibri" pitchFamily="34" charset="0"/>
                <a:ea typeface="Calibri" pitchFamily="34" charset="-122"/>
                <a:cs typeface="Calibri" pitchFamily="34" charset="-120"/>
              </a:rPr>
              <a:t>Jedan JSON odgovor korisniku</a:t>
            </a:r>
            <a:endParaRPr lang="en-US" sz="1450" dirty="0"/>
          </a:p>
        </p:txBody>
      </p:sp>
      <p:sp>
        <p:nvSpPr>
          <p:cNvPr id="13" name="Shape 9"/>
          <p:cNvSpPr/>
          <p:nvPr/>
        </p:nvSpPr>
        <p:spPr>
          <a:xfrm>
            <a:off x="5669280" y="5358384"/>
            <a:ext cx="5943600" cy="685800"/>
          </a:xfrm>
          <a:prstGeom prst="roundRect">
            <a:avLst>
              <a:gd name="adj" fmla="val 10667"/>
            </a:avLst>
          </a:prstGeom>
          <a:solidFill>
            <a:srgbClr val="E2F2EF"/>
          </a:solidFill>
          <a:ln w="12700">
            <a:solidFill>
              <a:srgbClr val="E2F2EF"/>
            </a:solidFill>
            <a:prstDash val="solid"/>
          </a:ln>
        </p:spPr>
      </p:sp>
      <p:sp>
        <p:nvSpPr>
          <p:cNvPr id="14" name="Text 10"/>
          <p:cNvSpPr/>
          <p:nvPr/>
        </p:nvSpPr>
        <p:spPr>
          <a:xfrm>
            <a:off x="5897880" y="5358384"/>
            <a:ext cx="5486400" cy="685800"/>
          </a:xfrm>
          <a:prstGeom prst="rect">
            <a:avLst/>
          </a:prstGeom>
          <a:noFill/>
          <a:ln/>
        </p:spPr>
        <p:txBody>
          <a:bodyPr wrap="square" lIns="0" tIns="0" rIns="0" bIns="0" rtlCol="0" anchor="ctr"/>
          <a:lstStyle/>
          <a:p>
            <a:pPr marL="0" indent="0">
              <a:buNone/>
            </a:pPr>
            <a:r>
              <a:rPr lang="en-US" sz="1350" b="1" dirty="0">
                <a:solidFill>
                  <a:srgbClr val="0A6B62"/>
                </a:solidFill>
                <a:latin typeface="Calibri" pitchFamily="34" charset="0"/>
                <a:ea typeface="Calibri" pitchFamily="34" charset="-122"/>
                <a:cs typeface="Calibri" pitchFamily="34" charset="-120"/>
              </a:rPr>
              <a:t>LLM samo na rubu </a:t>
            </a:r>
            <a:r>
              <a:rPr lang="en-US" sz="1350" b="1" dirty="0" err="1">
                <a:solidFill>
                  <a:srgbClr val="0A6B62"/>
                </a:solidFill>
                <a:latin typeface="Calibri" pitchFamily="34" charset="0"/>
                <a:ea typeface="Calibri" pitchFamily="34" charset="-122"/>
                <a:cs typeface="Calibri" pitchFamily="34" charset="-120"/>
              </a:rPr>
              <a:t>toka</a:t>
            </a:r>
            <a:r>
              <a:rPr lang="en-US" sz="1350" b="1" dirty="0">
                <a:solidFill>
                  <a:srgbClr val="0A6B62"/>
                </a:solidFill>
                <a:latin typeface="Calibri" pitchFamily="34" charset="0"/>
                <a:ea typeface="Calibri" pitchFamily="34" charset="-122"/>
                <a:cs typeface="Calibri" pitchFamily="34" charset="-120"/>
              </a:rPr>
              <a:t> - </a:t>
            </a:r>
            <a:r>
              <a:rPr lang="en-US" sz="1350" b="1" dirty="0" err="1">
                <a:solidFill>
                  <a:srgbClr val="0A6B62"/>
                </a:solidFill>
                <a:latin typeface="Calibri" pitchFamily="34" charset="0"/>
                <a:ea typeface="Calibri" pitchFamily="34" charset="-122"/>
                <a:cs typeface="Calibri" pitchFamily="34" charset="-120"/>
              </a:rPr>
              <a:t>sve</a:t>
            </a:r>
            <a:r>
              <a:rPr lang="en-US" sz="1350" b="1" dirty="0">
                <a:solidFill>
                  <a:srgbClr val="0A6B62"/>
                </a:solidFill>
                <a:latin typeface="Calibri" pitchFamily="34" charset="0"/>
                <a:ea typeface="Calibri" pitchFamily="34" charset="-122"/>
                <a:cs typeface="Calibri" pitchFamily="34" charset="-120"/>
              </a:rPr>
              <a:t> što odlučuje je deterministički kod.</a:t>
            </a:r>
            <a:endParaRPr lang="en-US" sz="1350" dirty="0"/>
          </a:p>
        </p:txBody>
      </p:sp>
      <p:pic>
        <p:nvPicPr>
          <p:cNvPr id="15" name="Picture 14">
            <a:extLst>
              <a:ext uri="{FF2B5EF4-FFF2-40B4-BE49-F238E27FC236}">
                <a16:creationId xmlns:a16="http://schemas.microsoft.com/office/drawing/2014/main" id="{41458C7F-F09A-4BC9-AF19-BDA76BE27998}"/>
              </a:ext>
            </a:extLst>
          </p:cNvPr>
          <p:cNvPicPr>
            <a:picLocks noChangeAspect="1"/>
          </p:cNvPicPr>
          <p:nvPr/>
        </p:nvPicPr>
        <p:blipFill>
          <a:blip r:embed="rId3"/>
          <a:stretch>
            <a:fillRect/>
          </a:stretch>
        </p:blipFill>
        <p:spPr>
          <a:xfrm>
            <a:off x="141514" y="1027395"/>
            <a:ext cx="5152209" cy="55671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Baza znanja</a:t>
            </a:r>
            <a:endParaRPr lang="en-US" sz="3000" dirty="0"/>
          </a:p>
        </p:txBody>
      </p:sp>
      <p:sp>
        <p:nvSpPr>
          <p:cNvPr id="5" name="Text 2"/>
          <p:cNvSpPr/>
          <p:nvPr/>
        </p:nvSpPr>
        <p:spPr>
          <a:xfrm>
            <a:off x="303711" y="1526395"/>
            <a:ext cx="855617" cy="754380"/>
          </a:xfrm>
          <a:prstGeom prst="rect">
            <a:avLst/>
          </a:prstGeom>
          <a:noFill/>
          <a:ln/>
        </p:spPr>
        <p:txBody>
          <a:bodyPr wrap="square" lIns="0" tIns="0" rIns="0" bIns="0" rtlCol="0" anchor="ctr"/>
          <a:lstStyle/>
          <a:p>
            <a:pPr marL="0" indent="0" algn="ctr">
              <a:buNone/>
            </a:pPr>
            <a:r>
              <a:rPr lang="en-US" sz="3200" b="1" dirty="0">
                <a:solidFill>
                  <a:srgbClr val="6D4FC4"/>
                </a:solidFill>
                <a:latin typeface="Calibri" pitchFamily="34" charset="0"/>
                <a:ea typeface="Calibri" pitchFamily="34" charset="-122"/>
                <a:cs typeface="Calibri" pitchFamily="34" charset="-120"/>
              </a:rPr>
              <a:t>35</a:t>
            </a:r>
            <a:endParaRPr lang="en-US" sz="1450" b="1" dirty="0">
              <a:solidFill>
                <a:srgbClr val="6D4FC4"/>
              </a:solidFill>
              <a:latin typeface="Calibri" pitchFamily="34" charset="0"/>
              <a:ea typeface="Calibri" pitchFamily="34" charset="-122"/>
              <a:cs typeface="Calibri" pitchFamily="34" charset="-120"/>
            </a:endParaRPr>
          </a:p>
        </p:txBody>
      </p:sp>
      <p:sp>
        <p:nvSpPr>
          <p:cNvPr id="6" name="Text 3"/>
          <p:cNvSpPr/>
          <p:nvPr/>
        </p:nvSpPr>
        <p:spPr>
          <a:xfrm>
            <a:off x="640080" y="2167128"/>
            <a:ext cx="2103120" cy="548640"/>
          </a:xfrm>
          <a:prstGeom prst="rect">
            <a:avLst/>
          </a:prstGeom>
          <a:noFill/>
          <a:ln/>
        </p:spPr>
        <p:txBody>
          <a:bodyPr wrap="square" lIns="0" tIns="0" rIns="0" bIns="0" rtlCol="0" anchor="ctr"/>
          <a:lstStyle/>
          <a:p>
            <a:pPr marL="0" indent="0" algn="ctr">
              <a:buNone/>
            </a:pPr>
            <a:r>
              <a:rPr lang="en-US" sz="1450" dirty="0">
                <a:solidFill>
                  <a:srgbClr val="1A2420"/>
                </a:solidFill>
                <a:latin typeface="Calibri" pitchFamily="34" charset="0"/>
                <a:ea typeface="Calibri" pitchFamily="34" charset="-122"/>
                <a:cs typeface="Calibri" pitchFamily="34" charset="-120"/>
              </a:rPr>
              <a:t>dodataka prehrani u </a:t>
            </a:r>
            <a:r>
              <a:rPr lang="en-US" sz="1450" dirty="0" err="1">
                <a:solidFill>
                  <a:srgbClr val="1A2420"/>
                </a:solidFill>
                <a:latin typeface="Calibri" pitchFamily="34" charset="0"/>
                <a:ea typeface="Calibri" pitchFamily="34" charset="-122"/>
                <a:cs typeface="Calibri" pitchFamily="34" charset="-120"/>
              </a:rPr>
              <a:t>tablici</a:t>
            </a:r>
            <a:r>
              <a:rPr lang="en-US" sz="1450" dirty="0">
                <a:solidFill>
                  <a:srgbClr val="1A2420"/>
                </a:solidFill>
                <a:latin typeface="Calibri" pitchFamily="34" charset="0"/>
                <a:ea typeface="Calibri" pitchFamily="34" charset="-122"/>
                <a:cs typeface="Calibri" pitchFamily="34" charset="-120"/>
              </a:rPr>
              <a:t> supplements</a:t>
            </a:r>
          </a:p>
        </p:txBody>
      </p:sp>
      <p:sp>
        <p:nvSpPr>
          <p:cNvPr id="8" name="Text 5"/>
          <p:cNvSpPr/>
          <p:nvPr/>
        </p:nvSpPr>
        <p:spPr>
          <a:xfrm>
            <a:off x="328203" y="3060138"/>
            <a:ext cx="806631" cy="754380"/>
          </a:xfrm>
          <a:prstGeom prst="rect">
            <a:avLst/>
          </a:prstGeom>
          <a:noFill/>
          <a:ln/>
        </p:spPr>
        <p:txBody>
          <a:bodyPr wrap="square" lIns="0" tIns="0" rIns="0" bIns="0" rtlCol="0" anchor="ctr"/>
          <a:lstStyle/>
          <a:p>
            <a:pPr algn="ctr"/>
            <a:r>
              <a:rPr lang="en-US" sz="3200" b="1" dirty="0">
                <a:solidFill>
                  <a:srgbClr val="6D4FC4"/>
                </a:solidFill>
                <a:latin typeface="Calibri" pitchFamily="34" charset="0"/>
                <a:ea typeface="Calibri" pitchFamily="34" charset="-122"/>
                <a:cs typeface="Calibri" pitchFamily="34" charset="-120"/>
              </a:rPr>
              <a:t>14</a:t>
            </a:r>
          </a:p>
        </p:txBody>
      </p:sp>
      <p:sp>
        <p:nvSpPr>
          <p:cNvPr id="9" name="Text 6"/>
          <p:cNvSpPr/>
          <p:nvPr/>
        </p:nvSpPr>
        <p:spPr>
          <a:xfrm>
            <a:off x="567689" y="3756225"/>
            <a:ext cx="2103120" cy="548640"/>
          </a:xfrm>
          <a:prstGeom prst="rect">
            <a:avLst/>
          </a:prstGeom>
          <a:noFill/>
          <a:ln/>
        </p:spPr>
        <p:txBody>
          <a:bodyPr wrap="square" lIns="0" tIns="0" rIns="0" bIns="0" rtlCol="0" anchor="ctr"/>
          <a:lstStyle/>
          <a:p>
            <a:pPr marL="0" indent="0" algn="ctr">
              <a:buNone/>
            </a:pPr>
            <a:r>
              <a:rPr lang="en-US" sz="1450" dirty="0">
                <a:solidFill>
                  <a:srgbClr val="1A2420"/>
                </a:solidFill>
                <a:latin typeface="Calibri" pitchFamily="34" charset="0"/>
                <a:ea typeface="Calibri" pitchFamily="34" charset="-122"/>
                <a:cs typeface="Calibri" pitchFamily="34" charset="-120"/>
              </a:rPr>
              <a:t>standardiziranih ciljeva (goal_tags</a:t>
            </a:r>
            <a:r>
              <a:rPr lang="en-US" sz="1150" dirty="0">
                <a:solidFill>
                  <a:srgbClr val="5C6D69"/>
                </a:solidFill>
                <a:latin typeface="Calibri" pitchFamily="34" charset="0"/>
                <a:ea typeface="Calibri" pitchFamily="34" charset="-122"/>
                <a:cs typeface="Calibri" pitchFamily="34" charset="-120"/>
              </a:rPr>
              <a:t>)</a:t>
            </a:r>
            <a:endParaRPr lang="en-US" sz="1150" dirty="0"/>
          </a:p>
        </p:txBody>
      </p:sp>
      <p:sp>
        <p:nvSpPr>
          <p:cNvPr id="11" name="Text 8"/>
          <p:cNvSpPr/>
          <p:nvPr/>
        </p:nvSpPr>
        <p:spPr>
          <a:xfrm>
            <a:off x="303711" y="4663440"/>
            <a:ext cx="806631" cy="754380"/>
          </a:xfrm>
          <a:prstGeom prst="rect">
            <a:avLst/>
          </a:prstGeom>
          <a:noFill/>
          <a:ln/>
        </p:spPr>
        <p:txBody>
          <a:bodyPr wrap="square" lIns="0" tIns="0" rIns="0" bIns="0" rtlCol="0" anchor="ctr"/>
          <a:lstStyle/>
          <a:p>
            <a:pPr indent="0" algn="ctr">
              <a:buNone/>
            </a:pPr>
            <a:r>
              <a:rPr lang="en-US" sz="3200" b="1" dirty="0">
                <a:solidFill>
                  <a:srgbClr val="6D4FC4"/>
                </a:solidFill>
                <a:latin typeface="Calibri" pitchFamily="34" charset="0"/>
                <a:ea typeface="Calibri" pitchFamily="34" charset="-122"/>
                <a:cs typeface="Calibri" pitchFamily="34" charset="-120"/>
              </a:rPr>
              <a:t>6</a:t>
            </a:r>
          </a:p>
        </p:txBody>
      </p:sp>
      <p:sp>
        <p:nvSpPr>
          <p:cNvPr id="12" name="Text 9"/>
          <p:cNvSpPr/>
          <p:nvPr/>
        </p:nvSpPr>
        <p:spPr>
          <a:xfrm>
            <a:off x="640080" y="5168483"/>
            <a:ext cx="2103120" cy="548640"/>
          </a:xfrm>
          <a:prstGeom prst="rect">
            <a:avLst/>
          </a:prstGeom>
          <a:noFill/>
          <a:ln/>
        </p:spPr>
        <p:txBody>
          <a:bodyPr wrap="square" lIns="0" tIns="0" rIns="0" bIns="0" rtlCol="0" anchor="ctr"/>
          <a:lstStyle/>
          <a:p>
            <a:pPr marL="0" indent="0" algn="ctr">
              <a:buNone/>
            </a:pPr>
            <a:r>
              <a:rPr lang="en-US" sz="1450" dirty="0">
                <a:solidFill>
                  <a:srgbClr val="1A2420"/>
                </a:solidFill>
                <a:latin typeface="Calibri" pitchFamily="34" charset="0"/>
                <a:ea typeface="Calibri" pitchFamily="34" charset="-122"/>
                <a:cs typeface="Calibri" pitchFamily="34" charset="-120"/>
              </a:rPr>
              <a:t>kategorija bodovanja po </a:t>
            </a:r>
            <a:r>
              <a:rPr lang="en-US" sz="1450" dirty="0" err="1">
                <a:solidFill>
                  <a:srgbClr val="1A2420"/>
                </a:solidFill>
                <a:latin typeface="Calibri" pitchFamily="34" charset="0"/>
                <a:ea typeface="Calibri" pitchFamily="34" charset="-122"/>
                <a:cs typeface="Calibri" pitchFamily="34" charset="-120"/>
              </a:rPr>
              <a:t>dodatku</a:t>
            </a:r>
            <a:endParaRPr lang="en-US" sz="1450" dirty="0">
              <a:solidFill>
                <a:srgbClr val="1A2420"/>
              </a:solidFill>
              <a:latin typeface="Calibri" pitchFamily="34" charset="0"/>
              <a:ea typeface="Calibri" pitchFamily="34" charset="-122"/>
              <a:cs typeface="Calibri" pitchFamily="34" charset="-120"/>
            </a:endParaRPr>
          </a:p>
        </p:txBody>
      </p:sp>
      <p:sp>
        <p:nvSpPr>
          <p:cNvPr id="13" name="Shape 10"/>
          <p:cNvSpPr/>
          <p:nvPr/>
        </p:nvSpPr>
        <p:spPr>
          <a:xfrm>
            <a:off x="3200400" y="1371600"/>
            <a:ext cx="8412480" cy="3291840"/>
          </a:xfrm>
          <a:prstGeom prst="roundRect">
            <a:avLst>
              <a:gd name="adj" fmla="val 2222"/>
            </a:avLst>
          </a:prstGeom>
          <a:solidFill>
            <a:srgbClr val="F2F5F4"/>
          </a:solidFill>
          <a:ln w="12700">
            <a:solidFill>
              <a:srgbClr val="F2F5F4"/>
            </a:solidFill>
            <a:prstDash val="solid"/>
          </a:ln>
        </p:spPr>
      </p:sp>
      <p:sp>
        <p:nvSpPr>
          <p:cNvPr id="14" name="Text 11"/>
          <p:cNvSpPr/>
          <p:nvPr/>
        </p:nvSpPr>
        <p:spPr>
          <a:xfrm>
            <a:off x="3474720" y="1600200"/>
            <a:ext cx="7863840" cy="2834640"/>
          </a:xfrm>
          <a:prstGeom prst="rect">
            <a:avLst/>
          </a:prstGeom>
          <a:noFill/>
          <a:ln/>
        </p:spPr>
        <p:txBody>
          <a:bodyPr wrap="square" lIns="0" tIns="0" rIns="0" bIns="0" rtlCol="0" anchor="ctr"/>
          <a:lstStyle/>
          <a:p>
            <a:r>
              <a:rPr lang="en-US" sz="1300" dirty="0">
                <a:solidFill>
                  <a:srgbClr val="1A2420"/>
                </a:solidFill>
                <a:latin typeface="Courier New" pitchFamily="34" charset="0"/>
                <a:ea typeface="Courier New" pitchFamily="34" charset="-122"/>
                <a:cs typeface="Courier New" pitchFamily="34" charset="-120"/>
              </a:rPr>
              <a:t>{ "name": "collagen",</a:t>
            </a:r>
          </a:p>
          <a:p>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goal_tags</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skin_health</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hair_health</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nail_strength</a:t>
            </a:r>
            <a:r>
              <a:rPr lang="en-US" sz="1300" dirty="0">
                <a:solidFill>
                  <a:srgbClr val="1A2420"/>
                </a:solidFill>
                <a:latin typeface="Courier New" pitchFamily="34" charset="0"/>
                <a:ea typeface="Courier New" pitchFamily="34" charset="-122"/>
                <a:cs typeface="Courier New" pitchFamily="34" charset="-120"/>
              </a:rPr>
              <a:t>", "recovery"],</a:t>
            </a:r>
          </a:p>
          <a:p>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lifestyle_scores</a:t>
            </a:r>
            <a:r>
              <a:rPr lang="en-US" sz="1300" dirty="0">
                <a:solidFill>
                  <a:srgbClr val="1A2420"/>
                </a:solidFill>
                <a:latin typeface="Courier New" pitchFamily="34" charset="0"/>
                <a:ea typeface="Courier New" pitchFamily="34" charset="-122"/>
                <a:cs typeface="Courier New" pitchFamily="34" charset="-120"/>
              </a:rPr>
              <a:t>": { "</a:t>
            </a:r>
            <a:r>
              <a:rPr lang="en-US" sz="1300" dirty="0" err="1">
                <a:solidFill>
                  <a:srgbClr val="1A2420"/>
                </a:solidFill>
                <a:latin typeface="Courier New" pitchFamily="34" charset="0"/>
                <a:ea typeface="Courier New" pitchFamily="34" charset="-122"/>
                <a:cs typeface="Courier New" pitchFamily="34" charset="-120"/>
              </a:rPr>
              <a:t>activity_level:high</a:t>
            </a:r>
            <a:r>
              <a:rPr lang="en-US" sz="1300" dirty="0">
                <a:solidFill>
                  <a:srgbClr val="1A2420"/>
                </a:solidFill>
                <a:latin typeface="Courier New" pitchFamily="34" charset="0"/>
                <a:ea typeface="Courier New" pitchFamily="34" charset="-122"/>
                <a:cs typeface="Courier New" pitchFamily="34" charset="-120"/>
              </a:rPr>
              <a:t>": 1 },</a:t>
            </a:r>
          </a:p>
          <a:p>
            <a:r>
              <a:rPr lang="en-US" sz="1300" dirty="0">
                <a:solidFill>
                  <a:srgbClr val="1A2420"/>
                </a:solidFill>
                <a:latin typeface="Courier New" pitchFamily="34" charset="0"/>
                <a:ea typeface="Courier New" pitchFamily="34" charset="-122"/>
                <a:cs typeface="Courier New" pitchFamily="34" charset="-120"/>
              </a:rPr>
              <a:t>  "penalties": {</a:t>
            </a:r>
          </a:p>
          <a:p>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diet_type:vegan</a:t>
            </a:r>
            <a:r>
              <a:rPr lang="en-US" sz="1300" dirty="0">
                <a:solidFill>
                  <a:srgbClr val="1A2420"/>
                </a:solidFill>
                <a:latin typeface="Courier New" pitchFamily="34" charset="0"/>
                <a:ea typeface="Courier New" pitchFamily="34" charset="-122"/>
                <a:cs typeface="Courier New" pitchFamily="34" charset="-120"/>
              </a:rPr>
              <a:t>":      { "penalty": 4, "hard": true, "warning": "</a:t>
            </a:r>
            <a:r>
              <a:rPr lang="en-US" sz="1300" dirty="0" err="1">
                <a:solidFill>
                  <a:srgbClr val="1A2420"/>
                </a:solidFill>
                <a:latin typeface="Courier New" pitchFamily="34" charset="0"/>
                <a:ea typeface="Courier New" pitchFamily="34" charset="-122"/>
                <a:cs typeface="Courier New" pitchFamily="34" charset="-120"/>
              </a:rPr>
              <a:t>Životinjskog</a:t>
            </a:r>
            <a:r>
              <a:rPr lang="en-US" sz="1300" dirty="0">
                <a:solidFill>
                  <a:srgbClr val="1A2420"/>
                </a:solidFill>
                <a:latin typeface="Courier New" pitchFamily="34" charset="0"/>
                <a:ea typeface="Courier New" pitchFamily="34" charset="-122"/>
                <a:cs typeface="Courier New" pitchFamily="34" charset="-120"/>
              </a:rPr>
              <a:t> je </a:t>
            </a:r>
            <a:r>
              <a:rPr lang="en-US" sz="1300" dirty="0" err="1">
                <a:solidFill>
                  <a:srgbClr val="1A2420"/>
                </a:solidFill>
                <a:latin typeface="Courier New" pitchFamily="34" charset="0"/>
                <a:ea typeface="Courier New" pitchFamily="34" charset="-122"/>
                <a:cs typeface="Courier New" pitchFamily="34" charset="-120"/>
              </a:rPr>
              <a:t>porijekla</a:t>
            </a:r>
            <a:r>
              <a:rPr lang="en-US" sz="1300" dirty="0">
                <a:solidFill>
                  <a:srgbClr val="1A2420"/>
                </a:solidFill>
                <a:latin typeface="Courier New" pitchFamily="34" charset="0"/>
                <a:ea typeface="Courier New" pitchFamily="34" charset="-122"/>
                <a:cs typeface="Courier New" pitchFamily="34" charset="-120"/>
              </a:rPr>
              <a:t>." },</a:t>
            </a:r>
          </a:p>
          <a:p>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diet_type:vegetarian</a:t>
            </a:r>
            <a:r>
              <a:rPr lang="en-US" sz="1300" dirty="0">
                <a:solidFill>
                  <a:srgbClr val="1A2420"/>
                </a:solidFill>
                <a:latin typeface="Courier New" pitchFamily="34" charset="0"/>
                <a:ea typeface="Courier New" pitchFamily="34" charset="-122"/>
                <a:cs typeface="Courier New" pitchFamily="34" charset="-120"/>
              </a:rPr>
              <a:t>": { "penalty": 4, "hard": true, "warning": "</a:t>
            </a:r>
            <a:r>
              <a:rPr lang="en-US" sz="1300" dirty="0" err="1">
                <a:solidFill>
                  <a:srgbClr val="1A2420"/>
                </a:solidFill>
                <a:latin typeface="Courier New" pitchFamily="34" charset="0"/>
                <a:ea typeface="Courier New" pitchFamily="34" charset="-122"/>
                <a:cs typeface="Courier New" pitchFamily="34" charset="-120"/>
              </a:rPr>
              <a:t>Iz</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kože</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i</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kostiju</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zaklanih</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životinja</a:t>
            </a:r>
            <a:r>
              <a:rPr lang="en-US" sz="1300" dirty="0">
                <a:solidFill>
                  <a:srgbClr val="1A2420"/>
                </a:solidFill>
                <a:latin typeface="Courier New" pitchFamily="34" charset="0"/>
                <a:ea typeface="Courier New" pitchFamily="34" charset="-122"/>
                <a:cs typeface="Courier New" pitchFamily="34" charset="-120"/>
              </a:rPr>
              <a:t>." },</a:t>
            </a:r>
          </a:p>
          <a:p>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allergy:fish</a:t>
            </a:r>
            <a:r>
              <a:rPr lang="en-US" sz="1300" dirty="0">
                <a:solidFill>
                  <a:srgbClr val="1A2420"/>
                </a:solidFill>
                <a:latin typeface="Courier New" pitchFamily="34" charset="0"/>
                <a:ea typeface="Courier New" pitchFamily="34" charset="-122"/>
                <a:cs typeface="Courier New" pitchFamily="34" charset="-120"/>
              </a:rPr>
              <a:t>":         { "penalty": 4, "hard": true, "warning": "</a:t>
            </a:r>
            <a:r>
              <a:rPr lang="en-US" sz="1300" dirty="0" err="1">
                <a:solidFill>
                  <a:srgbClr val="1A2420"/>
                </a:solidFill>
                <a:latin typeface="Courier New" pitchFamily="34" charset="0"/>
                <a:ea typeface="Courier New" pitchFamily="34" charset="-122"/>
                <a:cs typeface="Courier New" pitchFamily="34" charset="-120"/>
              </a:rPr>
              <a:t>Morski</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kolagen</a:t>
            </a:r>
            <a:r>
              <a:rPr lang="en-US" sz="1300" dirty="0">
                <a:solidFill>
                  <a:srgbClr val="1A2420"/>
                </a:solidFill>
                <a:latin typeface="Courier New" pitchFamily="34" charset="0"/>
                <a:ea typeface="Courier New" pitchFamily="34" charset="-122"/>
                <a:cs typeface="Courier New" pitchFamily="34" charset="-120"/>
              </a:rPr>
              <a:t> je </a:t>
            </a:r>
            <a:r>
              <a:rPr lang="en-US" sz="1300" dirty="0" err="1">
                <a:solidFill>
                  <a:srgbClr val="1A2420"/>
                </a:solidFill>
                <a:latin typeface="Courier New" pitchFamily="34" charset="0"/>
                <a:ea typeface="Courier New" pitchFamily="34" charset="-122"/>
                <a:cs typeface="Courier New" pitchFamily="34" charset="-120"/>
              </a:rPr>
              <a:t>iz</a:t>
            </a:r>
            <a:r>
              <a:rPr lang="en-US" sz="1300" dirty="0">
                <a:solidFill>
                  <a:srgbClr val="1A2420"/>
                </a:solidFill>
                <a:latin typeface="Courier New" pitchFamily="34" charset="0"/>
                <a:ea typeface="Courier New" pitchFamily="34" charset="-122"/>
                <a:cs typeface="Courier New" pitchFamily="34" charset="-120"/>
              </a:rPr>
              <a:t> </a:t>
            </a:r>
            <a:r>
              <a:rPr lang="en-US" sz="1300" dirty="0" err="1">
                <a:solidFill>
                  <a:srgbClr val="1A2420"/>
                </a:solidFill>
                <a:latin typeface="Courier New" pitchFamily="34" charset="0"/>
                <a:ea typeface="Courier New" pitchFamily="34" charset="-122"/>
                <a:cs typeface="Courier New" pitchFamily="34" charset="-120"/>
              </a:rPr>
              <a:t>ribe</a:t>
            </a:r>
            <a:r>
              <a:rPr lang="en-US" sz="1300" dirty="0">
                <a:solidFill>
                  <a:srgbClr val="1A2420"/>
                </a:solidFill>
                <a:latin typeface="Courier New" pitchFamily="34" charset="0"/>
                <a:ea typeface="Courier New" pitchFamily="34" charset="-122"/>
                <a:cs typeface="Courier New" pitchFamily="34" charset="-120"/>
              </a:rPr>
              <a:t>." } } }</a:t>
            </a:r>
            <a:endParaRPr lang="en-US" sz="1300" dirty="0"/>
          </a:p>
          <a:p>
            <a:pPr marL="0" indent="0">
              <a:buNone/>
            </a:pPr>
            <a:r>
              <a:rPr lang="en-US" sz="1300" dirty="0">
                <a:solidFill>
                  <a:srgbClr val="1A2420"/>
                </a:solidFill>
                <a:latin typeface="Courier New" pitchFamily="34" charset="0"/>
                <a:ea typeface="Courier New" pitchFamily="34" charset="-122"/>
                <a:cs typeface="Courier New" pitchFamily="34" charset="-120"/>
              </a:rPr>
              <a:t>  </a:t>
            </a:r>
            <a:endParaRPr lang="en-US" sz="1300" dirty="0"/>
          </a:p>
        </p:txBody>
      </p:sp>
      <p:sp>
        <p:nvSpPr>
          <p:cNvPr id="15" name="Text 12"/>
          <p:cNvSpPr/>
          <p:nvPr/>
        </p:nvSpPr>
        <p:spPr>
          <a:xfrm>
            <a:off x="3474720" y="4206240"/>
            <a:ext cx="7863840" cy="365760"/>
          </a:xfrm>
          <a:prstGeom prst="rect">
            <a:avLst/>
          </a:prstGeom>
          <a:noFill/>
          <a:ln/>
        </p:spPr>
        <p:txBody>
          <a:bodyPr wrap="square" lIns="0" tIns="0" rIns="0" bIns="0" rtlCol="0" anchor="ctr"/>
          <a:lstStyle/>
          <a:p>
            <a:pPr marL="0" indent="0">
              <a:buNone/>
            </a:pPr>
            <a:r>
              <a:rPr lang="en-US" sz="1150" i="1" dirty="0">
                <a:solidFill>
                  <a:srgbClr val="5C6D69"/>
                </a:solidFill>
                <a:latin typeface="Calibri" pitchFamily="34" charset="0"/>
                <a:ea typeface="Calibri" pitchFamily="34" charset="-122"/>
                <a:cs typeface="Calibri" pitchFamily="34" charset="-120"/>
              </a:rPr>
              <a:t>Primjer zapisa: </a:t>
            </a:r>
            <a:r>
              <a:rPr lang="en-US" sz="1150" i="1" dirty="0" err="1">
                <a:solidFill>
                  <a:srgbClr val="5C6D69"/>
                </a:solidFill>
                <a:latin typeface="Calibri" pitchFamily="34" charset="0"/>
                <a:ea typeface="Calibri" pitchFamily="34" charset="-122"/>
                <a:cs typeface="Calibri" pitchFamily="34" charset="-120"/>
              </a:rPr>
              <a:t>uvjet</a:t>
            </a:r>
            <a:r>
              <a:rPr lang="en-US" sz="1150" i="1" dirty="0">
                <a:solidFill>
                  <a:srgbClr val="5C6D69"/>
                </a:solidFill>
                <a:latin typeface="Calibri" pitchFamily="34" charset="0"/>
                <a:ea typeface="Calibri" pitchFamily="34" charset="-122"/>
                <a:cs typeface="Calibri" pitchFamily="34" charset="-120"/>
              </a:rPr>
              <a:t> -&gt; bodovi  (JSON stupci u PostgreSQL-u)</a:t>
            </a:r>
            <a:endParaRPr lang="en-US" sz="1150" dirty="0"/>
          </a:p>
        </p:txBody>
      </p:sp>
      <p:sp>
        <p:nvSpPr>
          <p:cNvPr id="17" name="Text 14"/>
          <p:cNvSpPr/>
          <p:nvPr/>
        </p:nvSpPr>
        <p:spPr>
          <a:xfrm>
            <a:off x="3474720" y="4937760"/>
            <a:ext cx="7863840" cy="1005840"/>
          </a:xfrm>
          <a:prstGeom prst="rect">
            <a:avLst/>
          </a:prstGeom>
          <a:noFill/>
          <a:ln/>
        </p:spPr>
        <p:txBody>
          <a:bodyPr wrap="square" lIns="0" tIns="0" rIns="0" bIns="0" rtlCol="0" anchor="ctr"/>
          <a:lstStyle/>
          <a:p>
            <a:pPr marL="0" indent="0">
              <a:buNone/>
            </a:pPr>
            <a:r>
              <a:rPr lang="en-US" sz="1450" b="1" dirty="0">
                <a:solidFill>
                  <a:srgbClr val="6D4FC4"/>
                </a:solidFill>
                <a:latin typeface="Calibri" pitchFamily="34" charset="0"/>
                <a:ea typeface="Calibri" pitchFamily="34" charset="-122"/>
                <a:cs typeface="Calibri" pitchFamily="34" charset="-120"/>
              </a:rPr>
              <a:t>Znanje = podaci, ne kod: novi dodatak ili pravilo bez izmjene koda. </a:t>
            </a:r>
          </a:p>
          <a:p>
            <a:pPr marL="0" indent="0">
              <a:buNone/>
            </a:pPr>
            <a:r>
              <a:rPr lang="en-US" sz="1450" b="1" dirty="0">
                <a:solidFill>
                  <a:srgbClr val="6D4FC4"/>
                </a:solidFill>
                <a:latin typeface="Calibri" pitchFamily="34" charset="0"/>
                <a:ea typeface="Calibri" pitchFamily="34" charset="-122"/>
                <a:cs typeface="Calibri" pitchFamily="34" charset="-120"/>
              </a:rPr>
              <a:t>31 pravilo kontraindikacije, od toga 25 tvrdih. Korisnički podaci se ne </a:t>
            </a:r>
            <a:r>
              <a:rPr lang="en-US" sz="1450" b="1" dirty="0" err="1">
                <a:solidFill>
                  <a:srgbClr val="6D4FC4"/>
                </a:solidFill>
                <a:latin typeface="Calibri" pitchFamily="34" charset="0"/>
                <a:ea typeface="Calibri" pitchFamily="34" charset="-122"/>
                <a:cs typeface="Calibri" pitchFamily="34" charset="-120"/>
              </a:rPr>
              <a:t>pohranjuju</a:t>
            </a:r>
            <a:r>
              <a:rPr lang="en-US" sz="1450" b="1" dirty="0">
                <a:solidFill>
                  <a:srgbClr val="6D4FC4"/>
                </a:solidFill>
                <a:latin typeface="Calibri" pitchFamily="34" charset="0"/>
                <a:ea typeface="Calibri" pitchFamily="34" charset="-122"/>
                <a:cs typeface="Calibri" pitchFamily="34" charset="-12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Logika preporuke — bodovanje</a:t>
            </a:r>
            <a:endParaRPr lang="en-US" sz="3000" dirty="0"/>
          </a:p>
        </p:txBody>
      </p:sp>
      <p:sp>
        <p:nvSpPr>
          <p:cNvPr id="4" name="Shape 1"/>
          <p:cNvSpPr/>
          <p:nvPr/>
        </p:nvSpPr>
        <p:spPr>
          <a:xfrm>
            <a:off x="822960" y="1280160"/>
            <a:ext cx="10515600" cy="822960"/>
          </a:xfrm>
          <a:prstGeom prst="roundRect">
            <a:avLst>
              <a:gd name="adj" fmla="val 8889"/>
            </a:avLst>
          </a:prstGeom>
          <a:solidFill>
            <a:srgbClr val="F2F5F4"/>
          </a:solidFill>
          <a:ln w="12700">
            <a:solidFill>
              <a:srgbClr val="F2F5F4"/>
            </a:solidFill>
            <a:prstDash val="solid"/>
          </a:ln>
        </p:spPr>
      </p:sp>
      <p:sp>
        <p:nvSpPr>
          <p:cNvPr id="5" name="Text 2"/>
          <p:cNvSpPr/>
          <p:nvPr/>
        </p:nvSpPr>
        <p:spPr>
          <a:xfrm>
            <a:off x="822960" y="1280160"/>
            <a:ext cx="10515600" cy="822960"/>
          </a:xfrm>
          <a:prstGeom prst="rect">
            <a:avLst/>
          </a:prstGeom>
          <a:noFill/>
          <a:ln/>
        </p:spPr>
        <p:txBody>
          <a:bodyPr wrap="square" lIns="0" tIns="0" rIns="0" bIns="0" rtlCol="0" anchor="ctr"/>
          <a:lstStyle/>
          <a:p>
            <a:pPr marL="0" indent="0" algn="ctr">
              <a:buNone/>
            </a:pPr>
            <a:r>
              <a:rPr lang="en-US" sz="1450" b="1" dirty="0">
                <a:solidFill>
                  <a:srgbClr val="0A6B62"/>
                </a:solidFill>
                <a:latin typeface="Courier New" pitchFamily="34" charset="0"/>
                <a:ea typeface="Courier New" pitchFamily="34" charset="-122"/>
                <a:cs typeface="Courier New" pitchFamily="34" charset="-120"/>
              </a:rPr>
              <a:t>Faza 1 — veto: tvrdo ograničenje uklanja dodatak     Faza 2 — total_score = goal + state + lifestyle + diet + deficiency − penalty</a:t>
            </a:r>
            <a:endParaRPr lang="en-US" sz="1450" dirty="0"/>
          </a:p>
        </p:txBody>
      </p:sp>
      <p:sp>
        <p:nvSpPr>
          <p:cNvPr id="7" name="Text 4"/>
          <p:cNvSpPr/>
          <p:nvPr/>
        </p:nvSpPr>
        <p:spPr>
          <a:xfrm>
            <a:off x="1075726" y="2803942"/>
            <a:ext cx="3099816" cy="1572768"/>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300" b="1" dirty="0" err="1">
                <a:solidFill>
                  <a:srgbClr val="0A6B62"/>
                </a:solidFill>
                <a:latin typeface="Courier New" pitchFamily="34" charset="0"/>
                <a:ea typeface="Courier New" pitchFamily="34" charset="-122"/>
                <a:cs typeface="Courier New" pitchFamily="34" charset="-120"/>
              </a:rPr>
              <a:t>goal_match</a:t>
            </a:r>
            <a:endParaRPr lang="en-US" sz="1300" b="1" dirty="0">
              <a:solidFill>
                <a:srgbClr val="0A6B62"/>
              </a:solidFill>
              <a:latin typeface="Courier New" pitchFamily="34" charset="0"/>
              <a:ea typeface="Courier New" pitchFamily="34" charset="-122"/>
              <a:cs typeface="Courier New" pitchFamily="34" charset="-120"/>
            </a:endParaRPr>
          </a:p>
          <a:p>
            <a:pPr marL="285750" indent="-285750">
              <a:buFont typeface="Wingdings" panose="05000000000000000000" pitchFamily="2" charset="2"/>
              <a:buChar char="Ø"/>
            </a:pPr>
            <a:endParaRPr lang="en-US" sz="1300" b="1" dirty="0">
              <a:solidFill>
                <a:srgbClr val="0A6B62"/>
              </a:solidFill>
              <a:latin typeface="Courier New" pitchFamily="34" charset="0"/>
              <a:ea typeface="Courier New" pitchFamily="34" charset="-122"/>
              <a:cs typeface="Courier New" pitchFamily="34" charset="-120"/>
            </a:endParaRPr>
          </a:p>
          <a:p>
            <a:pPr marL="285750" indent="-285750">
              <a:buFont typeface="Wingdings" panose="05000000000000000000" pitchFamily="2" charset="2"/>
              <a:buChar char="Ø"/>
            </a:pPr>
            <a:endParaRPr lang="en-US" sz="1300" b="1" dirty="0">
              <a:solidFill>
                <a:srgbClr val="0A6B62"/>
              </a:solidFill>
              <a:latin typeface="Courier New" pitchFamily="34" charset="0"/>
              <a:cs typeface="Courier New" pitchFamily="34" charset="-120"/>
            </a:endParaRPr>
          </a:p>
          <a:p>
            <a:pPr marL="285750" indent="-285750">
              <a:buFont typeface="Wingdings" panose="05000000000000000000" pitchFamily="2" charset="2"/>
              <a:buChar char="Ø"/>
            </a:pPr>
            <a:r>
              <a:rPr lang="en-US" sz="1300" b="1" dirty="0" err="1">
                <a:solidFill>
                  <a:srgbClr val="0A6B62"/>
                </a:solidFill>
                <a:latin typeface="Courier New" pitchFamily="34" charset="0"/>
                <a:cs typeface="Courier New" pitchFamily="34" charset="-120"/>
              </a:rPr>
              <a:t>diet_match</a:t>
            </a:r>
            <a:endParaRPr lang="en-US" sz="1300" b="1" dirty="0">
              <a:solidFill>
                <a:srgbClr val="0A6B62"/>
              </a:solidFill>
              <a:latin typeface="Courier New" pitchFamily="34" charset="0"/>
              <a:cs typeface="Courier New" pitchFamily="34" charset="-120"/>
            </a:endParaRPr>
          </a:p>
          <a:p>
            <a:pPr marL="285750" indent="-285750">
              <a:buFont typeface="Wingdings" panose="05000000000000000000" pitchFamily="2" charset="2"/>
              <a:buChar char="Ø"/>
            </a:pPr>
            <a:endParaRPr lang="en-US" sz="1300" b="1" dirty="0">
              <a:solidFill>
                <a:srgbClr val="0A6B62"/>
              </a:solidFill>
              <a:latin typeface="Courier New" pitchFamily="34" charset="0"/>
              <a:cs typeface="Courier New" pitchFamily="34" charset="-120"/>
            </a:endParaRPr>
          </a:p>
          <a:p>
            <a:pPr marL="285750" indent="-285750">
              <a:buFont typeface="Wingdings" panose="05000000000000000000" pitchFamily="2" charset="2"/>
              <a:buChar char="Ø"/>
            </a:pPr>
            <a:endParaRPr lang="en-US" sz="1300" b="1" dirty="0">
              <a:solidFill>
                <a:srgbClr val="0A6B62"/>
              </a:solidFill>
              <a:latin typeface="Courier New" pitchFamily="34" charset="0"/>
              <a:cs typeface="Courier New" pitchFamily="34" charset="-120"/>
            </a:endParaRPr>
          </a:p>
          <a:p>
            <a:pPr marL="285750" indent="-285750">
              <a:buFont typeface="Wingdings" panose="05000000000000000000" pitchFamily="2" charset="2"/>
              <a:buChar char="Ø"/>
            </a:pPr>
            <a:r>
              <a:rPr lang="en-US" sz="1300" b="1" dirty="0" err="1">
                <a:solidFill>
                  <a:srgbClr val="0A6B62"/>
                </a:solidFill>
                <a:latin typeface="Courier New" pitchFamily="34" charset="0"/>
                <a:cs typeface="Courier New" pitchFamily="34" charset="-120"/>
              </a:rPr>
              <a:t>state_match</a:t>
            </a:r>
            <a:endParaRPr lang="en-US" sz="1300" dirty="0"/>
          </a:p>
        </p:txBody>
      </p:sp>
      <p:sp>
        <p:nvSpPr>
          <p:cNvPr id="8" name="Text 5"/>
          <p:cNvSpPr/>
          <p:nvPr/>
        </p:nvSpPr>
        <p:spPr>
          <a:xfrm>
            <a:off x="2625634" y="2724912"/>
            <a:ext cx="3099816" cy="502920"/>
          </a:xfrm>
          <a:prstGeom prst="rect">
            <a:avLst/>
          </a:prstGeom>
          <a:noFill/>
          <a:ln/>
        </p:spPr>
        <p:txBody>
          <a:bodyPr wrap="square" lIns="0" tIns="0" rIns="0" bIns="0" rtlCol="0" anchor="ctr"/>
          <a:lstStyle/>
          <a:p>
            <a:pPr marL="0" indent="0">
              <a:buNone/>
            </a:pPr>
            <a:r>
              <a:rPr lang="en-US" sz="1150" dirty="0">
                <a:solidFill>
                  <a:srgbClr val="1A2420"/>
                </a:solidFill>
                <a:latin typeface="Calibri" pitchFamily="34" charset="0"/>
                <a:ea typeface="Calibri" pitchFamily="34" charset="-122"/>
                <a:cs typeface="Calibri" pitchFamily="34" charset="-120"/>
              </a:rPr>
              <a:t>2 boda po pogođenom cilju</a:t>
            </a:r>
            <a:endParaRPr lang="en-US" sz="1150" dirty="0"/>
          </a:p>
        </p:txBody>
      </p:sp>
      <p:sp>
        <p:nvSpPr>
          <p:cNvPr id="11" name="Text 8"/>
          <p:cNvSpPr/>
          <p:nvPr/>
        </p:nvSpPr>
        <p:spPr>
          <a:xfrm>
            <a:off x="2625634" y="3977966"/>
            <a:ext cx="3099816" cy="502920"/>
          </a:xfrm>
          <a:prstGeom prst="rect">
            <a:avLst/>
          </a:prstGeom>
          <a:noFill/>
          <a:ln/>
        </p:spPr>
        <p:txBody>
          <a:bodyPr wrap="square" lIns="0" tIns="0" rIns="0" bIns="0" rtlCol="0" anchor="ctr"/>
          <a:lstStyle/>
          <a:p>
            <a:pPr marL="0" indent="0">
              <a:buNone/>
            </a:pPr>
            <a:r>
              <a:rPr lang="en-US" sz="1150" dirty="0">
                <a:solidFill>
                  <a:srgbClr val="1A2420"/>
                </a:solidFill>
                <a:latin typeface="Calibri" pitchFamily="34" charset="0"/>
                <a:ea typeface="Calibri" pitchFamily="34" charset="-122"/>
                <a:cs typeface="Calibri" pitchFamily="34" charset="-120"/>
              </a:rPr>
              <a:t>stanje: san, stres, umor, fokus</a:t>
            </a:r>
            <a:endParaRPr lang="en-US" sz="1150" dirty="0"/>
          </a:p>
        </p:txBody>
      </p:sp>
      <p:sp>
        <p:nvSpPr>
          <p:cNvPr id="14" name="Text 11"/>
          <p:cNvSpPr/>
          <p:nvPr/>
        </p:nvSpPr>
        <p:spPr>
          <a:xfrm>
            <a:off x="8238744" y="3289228"/>
            <a:ext cx="3099816" cy="502920"/>
          </a:xfrm>
          <a:prstGeom prst="rect">
            <a:avLst/>
          </a:prstGeom>
          <a:noFill/>
          <a:ln/>
        </p:spPr>
        <p:txBody>
          <a:bodyPr wrap="square" lIns="0" tIns="0" rIns="0" bIns="0" rtlCol="0" anchor="ctr"/>
          <a:lstStyle/>
          <a:p>
            <a:pPr marL="0" indent="0">
              <a:buNone/>
            </a:pPr>
            <a:r>
              <a:rPr lang="en-US" sz="1150" dirty="0">
                <a:solidFill>
                  <a:srgbClr val="1A2420"/>
                </a:solidFill>
                <a:latin typeface="Calibri" pitchFamily="34" charset="0"/>
                <a:ea typeface="Calibri" pitchFamily="34" charset="-122"/>
                <a:cs typeface="Calibri" pitchFamily="34" charset="-120"/>
              </a:rPr>
              <a:t>aktivnost, kofein</a:t>
            </a:r>
            <a:endParaRPr lang="en-US" sz="1150" dirty="0"/>
          </a:p>
        </p:txBody>
      </p:sp>
      <p:sp>
        <p:nvSpPr>
          <p:cNvPr id="17" name="Text 14"/>
          <p:cNvSpPr/>
          <p:nvPr/>
        </p:nvSpPr>
        <p:spPr>
          <a:xfrm>
            <a:off x="2625634" y="3353889"/>
            <a:ext cx="3099816" cy="502920"/>
          </a:xfrm>
          <a:prstGeom prst="rect">
            <a:avLst/>
          </a:prstGeom>
          <a:noFill/>
          <a:ln/>
        </p:spPr>
        <p:txBody>
          <a:bodyPr wrap="square" lIns="0" tIns="0" rIns="0" bIns="0" rtlCol="0" anchor="ctr"/>
          <a:lstStyle/>
          <a:p>
            <a:pPr marL="0" indent="0">
              <a:buNone/>
            </a:pPr>
            <a:r>
              <a:rPr lang="en-US" sz="1150" dirty="0">
                <a:solidFill>
                  <a:srgbClr val="1A2420"/>
                </a:solidFill>
                <a:latin typeface="Calibri" pitchFamily="34" charset="0"/>
                <a:ea typeface="Calibri" pitchFamily="34" charset="-122"/>
                <a:cs typeface="Calibri" pitchFamily="34" charset="-120"/>
              </a:rPr>
              <a:t>vegan / vegetarijanac…</a:t>
            </a:r>
            <a:endParaRPr lang="en-US" sz="1150" dirty="0"/>
          </a:p>
        </p:txBody>
      </p:sp>
      <p:sp>
        <p:nvSpPr>
          <p:cNvPr id="18" name="Shape 15"/>
          <p:cNvSpPr/>
          <p:nvPr/>
        </p:nvSpPr>
        <p:spPr>
          <a:xfrm>
            <a:off x="2134144" y="5074920"/>
            <a:ext cx="8038555" cy="1051560"/>
          </a:xfrm>
          <a:prstGeom prst="roundRect">
            <a:avLst>
              <a:gd name="adj" fmla="val 6957"/>
            </a:avLst>
          </a:prstGeom>
          <a:solidFill>
            <a:srgbClr val="E2F2EF"/>
          </a:solidFill>
          <a:ln w="12700">
            <a:solidFill>
              <a:srgbClr val="E2F2EF"/>
            </a:solidFill>
            <a:prstDash val="solid"/>
          </a:ln>
        </p:spPr>
      </p:sp>
      <p:sp>
        <p:nvSpPr>
          <p:cNvPr id="19" name="Text 16"/>
          <p:cNvSpPr/>
          <p:nvPr/>
        </p:nvSpPr>
        <p:spPr>
          <a:xfrm>
            <a:off x="6030468" y="2669396"/>
            <a:ext cx="3099816" cy="1709274"/>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300" b="1" dirty="0" err="1">
                <a:solidFill>
                  <a:srgbClr val="0A6B62"/>
                </a:solidFill>
                <a:latin typeface="Courier New" pitchFamily="34" charset="0"/>
                <a:ea typeface="Courier New" pitchFamily="34" charset="-122"/>
                <a:cs typeface="Courier New" pitchFamily="34" charset="-120"/>
              </a:rPr>
              <a:t>deficiency_risk_proxy</a:t>
            </a:r>
            <a:endParaRPr lang="en-US" sz="1300" b="1" dirty="0">
              <a:solidFill>
                <a:srgbClr val="0A6B62"/>
              </a:solidFill>
              <a:latin typeface="Courier New" pitchFamily="34" charset="0"/>
              <a:ea typeface="Courier New" pitchFamily="34" charset="-122"/>
              <a:cs typeface="Courier New" pitchFamily="34" charset="-120"/>
            </a:endParaRPr>
          </a:p>
          <a:p>
            <a:pPr marL="285750" indent="-285750">
              <a:buFont typeface="Wingdings" panose="05000000000000000000" pitchFamily="2" charset="2"/>
              <a:buChar char="Ø"/>
            </a:pPr>
            <a:endParaRPr lang="en-US" sz="1300" b="1" dirty="0">
              <a:solidFill>
                <a:srgbClr val="0A6B62"/>
              </a:solidFill>
              <a:latin typeface="Courier New" pitchFamily="34" charset="0"/>
              <a:cs typeface="Courier New" pitchFamily="34" charset="-120"/>
            </a:endParaRPr>
          </a:p>
          <a:p>
            <a:pPr marL="285750" indent="-285750">
              <a:buFont typeface="Wingdings" panose="05000000000000000000" pitchFamily="2" charset="2"/>
              <a:buChar char="Ø"/>
            </a:pPr>
            <a:endParaRPr lang="en-US" sz="1300" b="1" dirty="0">
              <a:solidFill>
                <a:srgbClr val="0A6B62"/>
              </a:solidFill>
              <a:latin typeface="Courier New" pitchFamily="34" charset="0"/>
              <a:cs typeface="Courier New" pitchFamily="34" charset="-120"/>
            </a:endParaRPr>
          </a:p>
          <a:p>
            <a:pPr marL="285750" indent="-285750">
              <a:buFont typeface="Wingdings" panose="05000000000000000000" pitchFamily="2" charset="2"/>
              <a:buChar char="Ø"/>
            </a:pPr>
            <a:r>
              <a:rPr lang="en-US" sz="1300" b="1" dirty="0" err="1">
                <a:solidFill>
                  <a:srgbClr val="0A6B62"/>
                </a:solidFill>
                <a:latin typeface="Courier New" pitchFamily="34" charset="0"/>
                <a:ea typeface="Courier New" pitchFamily="34" charset="-122"/>
                <a:cs typeface="Courier New" pitchFamily="34" charset="-120"/>
              </a:rPr>
              <a:t>lifestyle_match</a:t>
            </a:r>
            <a:endParaRPr lang="en-US" sz="1300" dirty="0"/>
          </a:p>
          <a:p>
            <a:pPr marL="285750" indent="-285750">
              <a:buFont typeface="Wingdings" panose="05000000000000000000" pitchFamily="2" charset="2"/>
              <a:buChar char="Ø"/>
            </a:pPr>
            <a:endParaRPr lang="en-US" sz="1300" dirty="0"/>
          </a:p>
          <a:p>
            <a:pPr marL="285750" indent="-285750">
              <a:buFont typeface="Wingdings" panose="05000000000000000000" pitchFamily="2" charset="2"/>
              <a:buChar char="Ø"/>
            </a:pPr>
            <a:endParaRPr lang="en-US" sz="1300" dirty="0"/>
          </a:p>
          <a:p>
            <a:pPr marL="285750" indent="-285750">
              <a:buFont typeface="Wingdings" panose="05000000000000000000" pitchFamily="2" charset="2"/>
              <a:buChar char="Ø"/>
            </a:pPr>
            <a:r>
              <a:rPr lang="en-US" sz="1300" b="1" dirty="0" err="1">
                <a:solidFill>
                  <a:srgbClr val="0A6B62"/>
                </a:solidFill>
                <a:latin typeface="Courier New" pitchFamily="34" charset="0"/>
                <a:cs typeface="Courier New" pitchFamily="34" charset="-120"/>
              </a:rPr>
              <a:t>penalty_risk</a:t>
            </a:r>
            <a:endParaRPr lang="en-US" sz="1300" b="1" dirty="0">
              <a:solidFill>
                <a:srgbClr val="0A6B62"/>
              </a:solidFill>
              <a:latin typeface="Courier New" pitchFamily="34" charset="0"/>
              <a:cs typeface="Courier New" pitchFamily="34" charset="-120"/>
            </a:endParaRPr>
          </a:p>
        </p:txBody>
      </p:sp>
      <p:sp>
        <p:nvSpPr>
          <p:cNvPr id="20" name="Text 17"/>
          <p:cNvSpPr/>
          <p:nvPr/>
        </p:nvSpPr>
        <p:spPr>
          <a:xfrm>
            <a:off x="8622791" y="2694868"/>
            <a:ext cx="3099816" cy="502920"/>
          </a:xfrm>
          <a:prstGeom prst="rect">
            <a:avLst/>
          </a:prstGeom>
          <a:noFill/>
          <a:ln/>
        </p:spPr>
        <p:txBody>
          <a:bodyPr wrap="square" lIns="0" tIns="0" rIns="0" bIns="0" rtlCol="0" anchor="ctr"/>
          <a:lstStyle/>
          <a:p>
            <a:pPr marL="0" indent="0">
              <a:buNone/>
            </a:pPr>
            <a:r>
              <a:rPr lang="en-US" sz="1150" dirty="0">
                <a:solidFill>
                  <a:srgbClr val="1A2420"/>
                </a:solidFill>
                <a:latin typeface="Calibri" pitchFamily="34" charset="0"/>
                <a:ea typeface="Calibri" pitchFamily="34" charset="-122"/>
                <a:cs typeface="Calibri" pitchFamily="34" charset="-120"/>
              </a:rPr>
              <a:t>npr. malo </a:t>
            </a:r>
            <a:r>
              <a:rPr lang="en-US" sz="1150" dirty="0" err="1">
                <a:solidFill>
                  <a:srgbClr val="1A2420"/>
                </a:solidFill>
                <a:latin typeface="Calibri" pitchFamily="34" charset="0"/>
                <a:ea typeface="Calibri" pitchFamily="34" charset="-122"/>
                <a:cs typeface="Calibri" pitchFamily="34" charset="-120"/>
              </a:rPr>
              <a:t>sunca</a:t>
            </a:r>
            <a:r>
              <a:rPr lang="en-US" sz="1150" dirty="0">
                <a:solidFill>
                  <a:srgbClr val="1A2420"/>
                </a:solidFill>
                <a:latin typeface="Calibri" pitchFamily="34" charset="0"/>
                <a:ea typeface="Calibri" pitchFamily="34" charset="-122"/>
                <a:cs typeface="Calibri" pitchFamily="34" charset="-120"/>
              </a:rPr>
              <a:t> -&gt; vit. D</a:t>
            </a:r>
            <a:endParaRPr lang="en-US" sz="1150" dirty="0"/>
          </a:p>
        </p:txBody>
      </p:sp>
      <p:sp>
        <p:nvSpPr>
          <p:cNvPr id="23" name="Text 20"/>
          <p:cNvSpPr/>
          <p:nvPr/>
        </p:nvSpPr>
        <p:spPr>
          <a:xfrm>
            <a:off x="7885394" y="3921470"/>
            <a:ext cx="3099816" cy="502920"/>
          </a:xfrm>
          <a:prstGeom prst="rect">
            <a:avLst/>
          </a:prstGeom>
          <a:noFill/>
          <a:ln/>
        </p:spPr>
        <p:txBody>
          <a:bodyPr wrap="square" lIns="0" tIns="0" rIns="0" bIns="0" rtlCol="0" anchor="ctr"/>
          <a:lstStyle/>
          <a:p>
            <a:pPr marL="0" indent="0">
              <a:buNone/>
            </a:pPr>
            <a:r>
              <a:rPr lang="en-US" sz="1150" dirty="0">
                <a:solidFill>
                  <a:srgbClr val="1A2420"/>
                </a:solidFill>
                <a:latin typeface="Calibri" pitchFamily="34" charset="0"/>
                <a:ea typeface="Calibri" pitchFamily="34" charset="-122"/>
                <a:cs typeface="Calibri" pitchFamily="34" charset="-120"/>
              </a:rPr>
              <a:t>meke kazne za </a:t>
            </a:r>
            <a:r>
              <a:rPr lang="en-US" sz="1150" dirty="0" err="1">
                <a:solidFill>
                  <a:srgbClr val="1A2420"/>
                </a:solidFill>
                <a:latin typeface="Calibri" pitchFamily="34" charset="0"/>
                <a:ea typeface="Calibri" pitchFamily="34" charset="-122"/>
                <a:cs typeface="Calibri" pitchFamily="34" charset="-120"/>
              </a:rPr>
              <a:t>blaža</a:t>
            </a:r>
            <a:r>
              <a:rPr lang="en-US" sz="1150" dirty="0">
                <a:solidFill>
                  <a:srgbClr val="1A2420"/>
                </a:solidFill>
                <a:latin typeface="Calibri" pitchFamily="34" charset="0"/>
                <a:ea typeface="Calibri" pitchFamily="34" charset="-122"/>
                <a:cs typeface="Calibri" pitchFamily="34" charset="-120"/>
              </a:rPr>
              <a:t> </a:t>
            </a:r>
            <a:r>
              <a:rPr lang="en-US" sz="1150" dirty="0" err="1">
                <a:solidFill>
                  <a:srgbClr val="1A2420"/>
                </a:solidFill>
                <a:latin typeface="Calibri" pitchFamily="34" charset="0"/>
                <a:ea typeface="Calibri" pitchFamily="34" charset="-122"/>
                <a:cs typeface="Calibri" pitchFamily="34" charset="-120"/>
              </a:rPr>
              <a:t>pravila</a:t>
            </a:r>
            <a:endParaRPr lang="en-US" sz="1150" dirty="0">
              <a:solidFill>
                <a:srgbClr val="1A2420"/>
              </a:solidFill>
              <a:latin typeface="Calibri" pitchFamily="34" charset="0"/>
              <a:ea typeface="Calibri" pitchFamily="34" charset="-122"/>
              <a:cs typeface="Calibri" pitchFamily="34" charset="-120"/>
            </a:endParaRPr>
          </a:p>
        </p:txBody>
      </p:sp>
      <p:sp>
        <p:nvSpPr>
          <p:cNvPr id="24" name="Text 21"/>
          <p:cNvSpPr/>
          <p:nvPr/>
        </p:nvSpPr>
        <p:spPr>
          <a:xfrm>
            <a:off x="822960" y="5074920"/>
            <a:ext cx="10515600" cy="411480"/>
          </a:xfrm>
          <a:prstGeom prst="rect">
            <a:avLst/>
          </a:prstGeom>
          <a:noFill/>
          <a:ln/>
        </p:spPr>
        <p:txBody>
          <a:bodyPr wrap="square" lIns="0" tIns="0" rIns="0" bIns="0" rtlCol="0" anchor="ctr"/>
          <a:lstStyle/>
          <a:p>
            <a:pPr marL="0" indent="0" algn="ctr">
              <a:buNone/>
            </a:pPr>
            <a:r>
              <a:rPr lang="en-US" sz="1400" b="1" dirty="0">
                <a:solidFill>
                  <a:srgbClr val="1A2420"/>
                </a:solidFill>
                <a:latin typeface="Calibri" pitchFamily="34" charset="0"/>
                <a:ea typeface="Calibri" pitchFamily="34" charset="-122"/>
                <a:cs typeface="Calibri" pitchFamily="34" charset="-120"/>
              </a:rPr>
              <a:t>Prag: </a:t>
            </a:r>
            <a:r>
              <a:rPr lang="en-US" sz="1400" dirty="0">
                <a:solidFill>
                  <a:srgbClr val="1A2420"/>
                </a:solidFill>
                <a:latin typeface="Calibri" pitchFamily="34" charset="0"/>
                <a:ea typeface="Calibri" pitchFamily="34" charset="-122"/>
                <a:cs typeface="Calibri" pitchFamily="34" charset="-120"/>
              </a:rPr>
              <a:t>total &lt; 4 → ne prikazuje se      </a:t>
            </a:r>
            <a:r>
              <a:rPr lang="en-US" sz="1400" b="1" dirty="0">
                <a:solidFill>
                  <a:srgbClr val="1A2420"/>
                </a:solidFill>
                <a:latin typeface="Calibri" pitchFamily="34" charset="0"/>
                <a:ea typeface="Calibri" pitchFamily="34" charset="-122"/>
                <a:cs typeface="Calibri" pitchFamily="34" charset="-120"/>
              </a:rPr>
              <a:t>Izlaz: </a:t>
            </a:r>
            <a:r>
              <a:rPr lang="en-US" sz="1400" dirty="0">
                <a:solidFill>
                  <a:srgbClr val="1A2420"/>
                </a:solidFill>
                <a:latin typeface="Calibri" pitchFamily="34" charset="0"/>
                <a:ea typeface="Calibri" pitchFamily="34" charset="-122"/>
                <a:cs typeface="Calibri" pitchFamily="34" charset="-120"/>
              </a:rPr>
              <a:t>top 5, sortirano      </a:t>
            </a:r>
            <a:r>
              <a:rPr lang="en-US" sz="1400" b="1" dirty="0">
                <a:solidFill>
                  <a:srgbClr val="1A2420"/>
                </a:solidFill>
                <a:latin typeface="Calibri" pitchFamily="34" charset="0"/>
                <a:ea typeface="Calibri" pitchFamily="34" charset="-122"/>
                <a:cs typeface="Calibri" pitchFamily="34" charset="-120"/>
              </a:rPr>
              <a:t>Snaga: </a:t>
            </a:r>
            <a:r>
              <a:rPr lang="en-US" sz="1400" dirty="0">
                <a:solidFill>
                  <a:srgbClr val="1A2420"/>
                </a:solidFill>
                <a:latin typeface="Calibri" pitchFamily="34" charset="0"/>
                <a:ea typeface="Calibri" pitchFamily="34" charset="-122"/>
                <a:cs typeface="Calibri" pitchFamily="34" charset="-120"/>
              </a:rPr>
              <a:t>very_relevant ≥ 7, good 5–6, weak &lt; 5</a:t>
            </a:r>
            <a:endParaRPr lang="en-US" sz="1400" dirty="0"/>
          </a:p>
        </p:txBody>
      </p:sp>
      <p:sp>
        <p:nvSpPr>
          <p:cNvPr id="25" name="Text 22"/>
          <p:cNvSpPr/>
          <p:nvPr/>
        </p:nvSpPr>
        <p:spPr>
          <a:xfrm>
            <a:off x="822960" y="5623560"/>
            <a:ext cx="10515600" cy="411480"/>
          </a:xfrm>
          <a:prstGeom prst="rect">
            <a:avLst/>
          </a:prstGeom>
          <a:noFill/>
          <a:ln/>
        </p:spPr>
        <p:txBody>
          <a:bodyPr wrap="square" lIns="0" tIns="0" rIns="0" bIns="0" rtlCol="0" anchor="ctr"/>
          <a:lstStyle/>
          <a:p>
            <a:pPr marL="0" indent="0" algn="ctr">
              <a:buNone/>
            </a:pPr>
            <a:r>
              <a:rPr lang="en-US" sz="1350" i="1" dirty="0">
                <a:solidFill>
                  <a:srgbClr val="5C6D69"/>
                </a:solidFill>
                <a:latin typeface="Calibri" pitchFamily="34" charset="0"/>
                <a:ea typeface="Calibri" pitchFamily="34" charset="-122"/>
                <a:cs typeface="Calibri" pitchFamily="34" charset="-120"/>
              </a:rPr>
              <a:t>Primjer: L-teanin = 2 (cilj) + 1 (stres) + 2 (fokus) + 2 (kofein) = 7 → very_relevant, uz razlog za svaki bod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Integracija jezičnog modela</a:t>
            </a:r>
            <a:endParaRPr lang="en-US" sz="3000" dirty="0"/>
          </a:p>
        </p:txBody>
      </p:sp>
      <p:sp>
        <p:nvSpPr>
          <p:cNvPr id="5" name="Text 2"/>
          <p:cNvSpPr/>
          <p:nvPr/>
        </p:nvSpPr>
        <p:spPr>
          <a:xfrm>
            <a:off x="777240" y="1481328"/>
            <a:ext cx="4754880" cy="365760"/>
          </a:xfrm>
          <a:prstGeom prst="rect">
            <a:avLst/>
          </a:prstGeom>
          <a:noFill/>
          <a:ln/>
        </p:spPr>
        <p:txBody>
          <a:bodyPr wrap="square" lIns="0" tIns="0" rIns="0" bIns="0" rtlCol="0" anchor="ctr"/>
          <a:lstStyle/>
          <a:p>
            <a:pPr marL="0" indent="0">
              <a:buNone/>
            </a:pPr>
            <a:r>
              <a:rPr lang="en-US" sz="1500" b="1" dirty="0">
                <a:solidFill>
                  <a:srgbClr val="6D4FC4"/>
                </a:solidFill>
                <a:latin typeface="Calibri" pitchFamily="34" charset="0"/>
                <a:ea typeface="Calibri" pitchFamily="34" charset="-122"/>
                <a:cs typeface="Calibri" pitchFamily="34" charset="-120"/>
              </a:rPr>
              <a:t>1 · Parsiranje profila</a:t>
            </a:r>
            <a:endParaRPr lang="en-US" sz="1500" dirty="0"/>
          </a:p>
        </p:txBody>
      </p:sp>
      <p:sp>
        <p:nvSpPr>
          <p:cNvPr id="6" name="Text 3"/>
          <p:cNvSpPr/>
          <p:nvPr/>
        </p:nvSpPr>
        <p:spPr>
          <a:xfrm>
            <a:off x="777240" y="1865376"/>
            <a:ext cx="4754880" cy="548640"/>
          </a:xfrm>
          <a:prstGeom prst="rect">
            <a:avLst/>
          </a:prstGeom>
          <a:noFill/>
          <a:ln/>
        </p:spPr>
        <p:txBody>
          <a:bodyPr wrap="square" lIns="0" tIns="0" rIns="0" bIns="0" rtlCol="0" anchor="ctr"/>
          <a:lstStyle/>
          <a:p>
            <a:pPr marL="0" indent="0">
              <a:buNone/>
            </a:pPr>
            <a:r>
              <a:rPr lang="en-US" sz="1250" dirty="0">
                <a:solidFill>
                  <a:srgbClr val="1A2420"/>
                </a:solidFill>
                <a:latin typeface="Calibri" pitchFamily="34" charset="0"/>
                <a:ea typeface="Calibri" pitchFamily="34" charset="-122"/>
                <a:cs typeface="Calibri" pitchFamily="34" charset="-120"/>
              </a:rPr>
              <a:t>slobodni </a:t>
            </a:r>
            <a:r>
              <a:rPr lang="en-US" sz="1250" dirty="0" err="1">
                <a:solidFill>
                  <a:srgbClr val="1A2420"/>
                </a:solidFill>
                <a:latin typeface="Calibri" pitchFamily="34" charset="0"/>
                <a:ea typeface="Calibri" pitchFamily="34" charset="-122"/>
                <a:cs typeface="Calibri" pitchFamily="34" charset="-120"/>
              </a:rPr>
              <a:t>tekst</a:t>
            </a:r>
            <a:r>
              <a:rPr lang="en-US" sz="1250" dirty="0">
                <a:solidFill>
                  <a:srgbClr val="1A2420"/>
                </a:solidFill>
                <a:latin typeface="Calibri" pitchFamily="34" charset="0"/>
                <a:ea typeface="Calibri" pitchFamily="34" charset="-122"/>
                <a:cs typeface="Calibri" pitchFamily="34" charset="-120"/>
              </a:rPr>
              <a:t> -&gt; 14 polja (null ako nije navedeno)</a:t>
            </a:r>
            <a:endParaRPr lang="en-US" sz="1250" dirty="0"/>
          </a:p>
        </p:txBody>
      </p:sp>
      <p:sp>
        <p:nvSpPr>
          <p:cNvPr id="8" name="Text 5"/>
          <p:cNvSpPr/>
          <p:nvPr/>
        </p:nvSpPr>
        <p:spPr>
          <a:xfrm>
            <a:off x="777240" y="2761488"/>
            <a:ext cx="4754880" cy="365760"/>
          </a:xfrm>
          <a:prstGeom prst="rect">
            <a:avLst/>
          </a:prstGeom>
          <a:noFill/>
          <a:ln/>
        </p:spPr>
        <p:txBody>
          <a:bodyPr wrap="square" lIns="0" tIns="0" rIns="0" bIns="0" rtlCol="0" anchor="ctr"/>
          <a:lstStyle/>
          <a:p>
            <a:pPr marL="0" indent="0">
              <a:buNone/>
            </a:pPr>
            <a:r>
              <a:rPr lang="en-US" sz="1500" b="1" dirty="0">
                <a:solidFill>
                  <a:srgbClr val="6D4FC4"/>
                </a:solidFill>
                <a:latin typeface="Calibri" pitchFamily="34" charset="0"/>
                <a:ea typeface="Calibri" pitchFamily="34" charset="-122"/>
                <a:cs typeface="Calibri" pitchFamily="34" charset="-120"/>
              </a:rPr>
              <a:t>2 · Parsiranje ciljeva</a:t>
            </a:r>
            <a:endParaRPr lang="en-US" sz="1500" dirty="0"/>
          </a:p>
        </p:txBody>
      </p:sp>
      <p:sp>
        <p:nvSpPr>
          <p:cNvPr id="9" name="Text 6"/>
          <p:cNvSpPr/>
          <p:nvPr/>
        </p:nvSpPr>
        <p:spPr>
          <a:xfrm>
            <a:off x="777240" y="3145536"/>
            <a:ext cx="4754880" cy="548640"/>
          </a:xfrm>
          <a:prstGeom prst="rect">
            <a:avLst/>
          </a:prstGeom>
          <a:noFill/>
          <a:ln/>
        </p:spPr>
        <p:txBody>
          <a:bodyPr wrap="square" lIns="0" tIns="0" rIns="0" bIns="0" rtlCol="0" anchor="ctr"/>
          <a:lstStyle/>
          <a:p>
            <a:pPr marL="0" indent="0">
              <a:buNone/>
            </a:pPr>
            <a:r>
              <a:rPr lang="en-US" sz="1250" dirty="0" err="1">
                <a:solidFill>
                  <a:srgbClr val="1A2420"/>
                </a:solidFill>
                <a:latin typeface="Calibri" pitchFamily="34" charset="0"/>
                <a:ea typeface="Calibri" pitchFamily="34" charset="-122"/>
                <a:cs typeface="Calibri" pitchFamily="34" charset="-120"/>
              </a:rPr>
              <a:t>tekst</a:t>
            </a:r>
            <a:r>
              <a:rPr lang="en-US" sz="1250" dirty="0">
                <a:solidFill>
                  <a:srgbClr val="1A2420"/>
                </a:solidFill>
                <a:latin typeface="Calibri" pitchFamily="34" charset="0"/>
                <a:ea typeface="Calibri" pitchFamily="34" charset="-122"/>
                <a:cs typeface="Calibri" pitchFamily="34" charset="-120"/>
              </a:rPr>
              <a:t> -&gt; 14 standardiziranih oznaka</a:t>
            </a:r>
            <a:endParaRPr lang="en-US" sz="1250" dirty="0"/>
          </a:p>
        </p:txBody>
      </p:sp>
      <p:sp>
        <p:nvSpPr>
          <p:cNvPr id="11" name="Text 8"/>
          <p:cNvSpPr/>
          <p:nvPr/>
        </p:nvSpPr>
        <p:spPr>
          <a:xfrm>
            <a:off x="777240" y="4041648"/>
            <a:ext cx="4754880" cy="365760"/>
          </a:xfrm>
          <a:prstGeom prst="rect">
            <a:avLst/>
          </a:prstGeom>
          <a:noFill/>
          <a:ln/>
        </p:spPr>
        <p:txBody>
          <a:bodyPr wrap="square" lIns="0" tIns="0" rIns="0" bIns="0" rtlCol="0" anchor="ctr"/>
          <a:lstStyle/>
          <a:p>
            <a:pPr marL="0" indent="0">
              <a:buNone/>
            </a:pPr>
            <a:r>
              <a:rPr lang="en-US" sz="1500" b="1" dirty="0">
                <a:solidFill>
                  <a:srgbClr val="6D4FC4"/>
                </a:solidFill>
                <a:latin typeface="Calibri" pitchFamily="34" charset="0"/>
                <a:ea typeface="Calibri" pitchFamily="34" charset="-122"/>
                <a:cs typeface="Calibri" pitchFamily="34" charset="-120"/>
              </a:rPr>
              <a:t>3 · Objašnjenje (NLG)</a:t>
            </a:r>
            <a:endParaRPr lang="en-US" sz="1500" dirty="0"/>
          </a:p>
        </p:txBody>
      </p:sp>
      <p:sp>
        <p:nvSpPr>
          <p:cNvPr id="12" name="Text 9"/>
          <p:cNvSpPr/>
          <p:nvPr/>
        </p:nvSpPr>
        <p:spPr>
          <a:xfrm>
            <a:off x="777240" y="4425696"/>
            <a:ext cx="4754880" cy="548640"/>
          </a:xfrm>
          <a:prstGeom prst="rect">
            <a:avLst/>
          </a:prstGeom>
          <a:noFill/>
          <a:ln/>
        </p:spPr>
        <p:txBody>
          <a:bodyPr wrap="square" lIns="0" tIns="0" rIns="0" bIns="0" rtlCol="0" anchor="ctr"/>
          <a:lstStyle/>
          <a:p>
            <a:pPr marL="0" indent="0">
              <a:buNone/>
            </a:pPr>
            <a:r>
              <a:rPr lang="en-US" sz="1250" dirty="0">
                <a:solidFill>
                  <a:srgbClr val="1A2420"/>
                </a:solidFill>
                <a:latin typeface="Calibri" pitchFamily="34" charset="0"/>
                <a:ea typeface="Calibri" pitchFamily="34" charset="-122"/>
                <a:cs typeface="Calibri" pitchFamily="34" charset="-120"/>
              </a:rPr>
              <a:t>iz gotovih preporuka, HR ili EN prema jeziku unosa</a:t>
            </a:r>
            <a:endParaRPr lang="en-US" sz="1250" dirty="0"/>
          </a:p>
        </p:txBody>
      </p:sp>
      <p:sp>
        <p:nvSpPr>
          <p:cNvPr id="13" name="Shape 10"/>
          <p:cNvSpPr/>
          <p:nvPr/>
        </p:nvSpPr>
        <p:spPr>
          <a:xfrm>
            <a:off x="6126480" y="1371600"/>
            <a:ext cx="5486400" cy="3657600"/>
          </a:xfrm>
          <a:prstGeom prst="roundRect">
            <a:avLst>
              <a:gd name="adj" fmla="val 2000"/>
            </a:avLst>
          </a:prstGeom>
          <a:solidFill>
            <a:srgbClr val="ECE7F9"/>
          </a:solidFill>
          <a:ln w="12700">
            <a:solidFill>
              <a:srgbClr val="E2F2EF"/>
            </a:solidFill>
            <a:prstDash val="solid"/>
          </a:ln>
        </p:spPr>
      </p:sp>
      <p:sp>
        <p:nvSpPr>
          <p:cNvPr id="14" name="Text 11"/>
          <p:cNvSpPr/>
          <p:nvPr/>
        </p:nvSpPr>
        <p:spPr>
          <a:xfrm>
            <a:off x="6400800" y="1554480"/>
            <a:ext cx="4937760" cy="365760"/>
          </a:xfrm>
          <a:prstGeom prst="rect">
            <a:avLst/>
          </a:prstGeom>
          <a:noFill/>
          <a:ln/>
        </p:spPr>
        <p:txBody>
          <a:bodyPr wrap="square" lIns="0" tIns="0" rIns="0" bIns="0" rtlCol="0" anchor="ctr"/>
          <a:lstStyle/>
          <a:p>
            <a:pPr marL="0" indent="0">
              <a:buNone/>
            </a:pPr>
            <a:r>
              <a:rPr lang="en-US" sz="1500" b="1" dirty="0">
                <a:solidFill>
                  <a:srgbClr val="6D4FC4"/>
                </a:solidFill>
                <a:latin typeface="Calibri" pitchFamily="34" charset="0"/>
                <a:ea typeface="Calibri" pitchFamily="34" charset="-122"/>
                <a:cs typeface="Calibri" pitchFamily="34" charset="-120"/>
              </a:rPr>
              <a:t>Obrana od </a:t>
            </a:r>
            <a:r>
              <a:rPr lang="en-US" sz="1500" b="1" dirty="0" err="1">
                <a:solidFill>
                  <a:srgbClr val="6D4FC4"/>
                </a:solidFill>
                <a:latin typeface="Calibri" pitchFamily="34" charset="0"/>
                <a:ea typeface="Calibri" pitchFamily="34" charset="-122"/>
                <a:cs typeface="Calibri" pitchFamily="34" charset="-120"/>
              </a:rPr>
              <a:t>nepouzdanog</a:t>
            </a:r>
            <a:r>
              <a:rPr lang="en-US" sz="1500" b="1" dirty="0">
                <a:solidFill>
                  <a:srgbClr val="6D4FC4"/>
                </a:solidFill>
                <a:latin typeface="Calibri" pitchFamily="34" charset="0"/>
                <a:ea typeface="Calibri" pitchFamily="34" charset="-122"/>
                <a:cs typeface="Calibri" pitchFamily="34" charset="-120"/>
              </a:rPr>
              <a:t> </a:t>
            </a:r>
            <a:r>
              <a:rPr lang="en-US" sz="1500" b="1" dirty="0" err="1">
                <a:solidFill>
                  <a:srgbClr val="6D4FC4"/>
                </a:solidFill>
                <a:latin typeface="Calibri" pitchFamily="34" charset="0"/>
                <a:ea typeface="Calibri" pitchFamily="34" charset="-122"/>
                <a:cs typeface="Calibri" pitchFamily="34" charset="-120"/>
              </a:rPr>
              <a:t>izlaza</a:t>
            </a:r>
            <a:endParaRPr lang="en-US" sz="1500" b="1" dirty="0">
              <a:solidFill>
                <a:srgbClr val="6D4FC4"/>
              </a:solidFill>
              <a:latin typeface="Calibri" pitchFamily="34" charset="0"/>
              <a:ea typeface="Calibri" pitchFamily="34" charset="-122"/>
              <a:cs typeface="Calibri" pitchFamily="34" charset="-120"/>
            </a:endParaRPr>
          </a:p>
        </p:txBody>
      </p:sp>
      <p:sp>
        <p:nvSpPr>
          <p:cNvPr id="15" name="Text 12"/>
          <p:cNvSpPr/>
          <p:nvPr/>
        </p:nvSpPr>
        <p:spPr>
          <a:xfrm>
            <a:off x="6400800" y="2011680"/>
            <a:ext cx="4937760" cy="2834640"/>
          </a:xfrm>
          <a:prstGeom prst="rect">
            <a:avLst/>
          </a:prstGeom>
          <a:noFill/>
          <a:ln/>
        </p:spPr>
        <p:txBody>
          <a:bodyPr wrap="square" lIns="0" tIns="0" rIns="0" bIns="0" rtlCol="0" anchor="ctr"/>
          <a:lstStyle/>
          <a:p>
            <a:pPr marL="152400" indent="-152400">
              <a:spcAft>
                <a:spcPts val="800"/>
              </a:spcAft>
              <a:buSzPct val="100000"/>
              <a:buChar char="•"/>
            </a:pPr>
            <a:r>
              <a:rPr lang="en-US" sz="1350" dirty="0">
                <a:solidFill>
                  <a:srgbClr val="1A2420"/>
                </a:solidFill>
                <a:latin typeface="Calibri" pitchFamily="34" charset="0"/>
                <a:ea typeface="Calibri" pitchFamily="34" charset="-122"/>
                <a:cs typeface="Calibri" pitchFamily="34" charset="-120"/>
              </a:rPr>
              <a:t>Strogi prompt: samo JSON, null za nepoznato, bijele liste</a:t>
            </a:r>
            <a:endParaRPr lang="en-US" sz="1350" dirty="0"/>
          </a:p>
          <a:p>
            <a:pPr marL="152400" indent="-152400">
              <a:spcAft>
                <a:spcPts val="800"/>
              </a:spcAft>
              <a:buSzPct val="100000"/>
              <a:buChar char="•"/>
            </a:pPr>
            <a:r>
              <a:rPr lang="en-US" sz="1350" dirty="0">
                <a:solidFill>
                  <a:srgbClr val="1A2420"/>
                </a:solidFill>
                <a:latin typeface="Calibri" pitchFamily="34" charset="0"/>
                <a:ea typeface="Calibri" pitchFamily="34" charset="-122"/>
                <a:cs typeface="Calibri" pitchFamily="34" charset="-120"/>
              </a:rPr>
              <a:t>format: json — prisilno sintaktički ispravan JSON</a:t>
            </a:r>
            <a:endParaRPr lang="en-US" sz="1350" dirty="0"/>
          </a:p>
          <a:p>
            <a:pPr marL="152400" indent="-152400">
              <a:spcAft>
                <a:spcPts val="800"/>
              </a:spcAft>
              <a:buSzPct val="100000"/>
              <a:buChar char="•"/>
            </a:pPr>
            <a:r>
              <a:rPr lang="en-US" sz="1350" dirty="0">
                <a:solidFill>
                  <a:srgbClr val="1A2420"/>
                </a:solidFill>
                <a:latin typeface="Calibri" pitchFamily="34" charset="0"/>
                <a:ea typeface="Calibri" pitchFamily="34" charset="-122"/>
                <a:cs typeface="Calibri" pitchFamily="34" charset="-120"/>
              </a:rPr>
              <a:t>Ekstrakcija JSON-a iz „prljavog” odgovora</a:t>
            </a:r>
            <a:endParaRPr lang="en-US" sz="1350" dirty="0"/>
          </a:p>
          <a:p>
            <a:pPr marL="152400" indent="-152400">
              <a:spcAft>
                <a:spcPts val="800"/>
              </a:spcAft>
              <a:buSzPct val="100000"/>
              <a:buChar char="•"/>
            </a:pPr>
            <a:r>
              <a:rPr lang="en-US" sz="1350" dirty="0">
                <a:solidFill>
                  <a:srgbClr val="1A2420"/>
                </a:solidFill>
                <a:latin typeface="Calibri" pitchFamily="34" charset="0"/>
                <a:ea typeface="Calibri" pitchFamily="34" charset="-122"/>
                <a:cs typeface="Calibri" pitchFamily="34" charset="-120"/>
              </a:rPr>
              <a:t>Do 3 ponovna pokušaja + vremenska ograničenja</a:t>
            </a:r>
            <a:endParaRPr lang="en-US" sz="1350" dirty="0"/>
          </a:p>
          <a:p>
            <a:pPr marL="152400" indent="-152400">
              <a:buSzPct val="100000"/>
              <a:buChar char="•"/>
            </a:pPr>
            <a:r>
              <a:rPr lang="en-US" sz="1350" dirty="0">
                <a:solidFill>
                  <a:srgbClr val="1A2420"/>
                </a:solidFill>
                <a:latin typeface="Calibri" pitchFamily="34" charset="0"/>
                <a:ea typeface="Calibri" pitchFamily="34" charset="-122"/>
                <a:cs typeface="Calibri" pitchFamily="34" charset="-120"/>
              </a:rPr>
              <a:t>Pydantic validacija svega što model vrati</a:t>
            </a:r>
            <a:endParaRPr lang="en-US" sz="1350" dirty="0"/>
          </a:p>
        </p:txBody>
      </p:sp>
      <p:sp>
        <p:nvSpPr>
          <p:cNvPr id="16" name="Shape 13"/>
          <p:cNvSpPr/>
          <p:nvPr/>
        </p:nvSpPr>
        <p:spPr>
          <a:xfrm>
            <a:off x="548640" y="5349240"/>
            <a:ext cx="11064240" cy="868680"/>
          </a:xfrm>
          <a:prstGeom prst="roundRect">
            <a:avLst>
              <a:gd name="adj" fmla="val 8421"/>
            </a:avLst>
          </a:prstGeom>
          <a:solidFill>
            <a:srgbClr val="776A9F"/>
          </a:solidFill>
          <a:ln w="12700">
            <a:solidFill>
              <a:srgbClr val="0C2925"/>
            </a:solidFill>
            <a:prstDash val="solid"/>
          </a:ln>
        </p:spPr>
      </p:sp>
      <p:sp>
        <p:nvSpPr>
          <p:cNvPr id="17" name="Text 14"/>
          <p:cNvSpPr/>
          <p:nvPr/>
        </p:nvSpPr>
        <p:spPr>
          <a:xfrm>
            <a:off x="822960" y="5349240"/>
            <a:ext cx="10515600" cy="8686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Ako sve zakaže: prazan profil umjesto rušenja, deterministički predložak umjesto LLM </a:t>
            </a:r>
            <a:r>
              <a:rPr lang="en-US" sz="1400" b="1" dirty="0" err="1">
                <a:solidFill>
                  <a:srgbClr val="FFFFFF"/>
                </a:solidFill>
                <a:latin typeface="Calibri" pitchFamily="34" charset="0"/>
                <a:ea typeface="Calibri" pitchFamily="34" charset="-122"/>
                <a:cs typeface="Calibri" pitchFamily="34" charset="-120"/>
              </a:rPr>
              <a:t>objašnjenja</a:t>
            </a:r>
            <a:r>
              <a:rPr lang="en-US" sz="1400" b="1" dirty="0">
                <a:solidFill>
                  <a:srgbClr val="FFFFFF"/>
                </a:solidFill>
                <a:latin typeface="Calibri" pitchFamily="34" charset="0"/>
                <a:ea typeface="Calibri" pitchFamily="34" charset="-122"/>
                <a:cs typeface="Calibri" pitchFamily="34" charset="-120"/>
              </a:rPr>
              <a:t>  -&gt;  LLM nikad nije jedina točka otkaza.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Testiranje i evaluacija</a:t>
            </a:r>
            <a:endParaRPr lang="en-US" sz="3000" dirty="0"/>
          </a:p>
        </p:txBody>
      </p:sp>
      <p:sp>
        <p:nvSpPr>
          <p:cNvPr id="4" name="Shape 1"/>
          <p:cNvSpPr/>
          <p:nvPr/>
        </p:nvSpPr>
        <p:spPr>
          <a:xfrm>
            <a:off x="548640" y="1371600"/>
            <a:ext cx="2697480" cy="1554480"/>
          </a:xfrm>
          <a:prstGeom prst="roundRect">
            <a:avLst>
              <a:gd name="adj" fmla="val 4706"/>
            </a:avLst>
          </a:prstGeom>
          <a:ln w="12700">
            <a:solidFill>
              <a:srgbClr val="F2F5F4"/>
            </a:solidFill>
            <a:prstDash val="solid"/>
          </a:ln>
        </p:spPr>
        <p:style>
          <a:lnRef idx="0">
            <a:scrgbClr r="0" g="0" b="0"/>
          </a:lnRef>
          <a:fillRef idx="1001">
            <a:schemeClr val="lt1"/>
          </a:fillRef>
          <a:effectRef idx="0">
            <a:scrgbClr r="0" g="0" b="0"/>
          </a:effectRef>
          <a:fontRef idx="major"/>
        </p:style>
      </p:sp>
      <p:sp>
        <p:nvSpPr>
          <p:cNvPr id="5" name="Text 2"/>
          <p:cNvSpPr/>
          <p:nvPr/>
        </p:nvSpPr>
        <p:spPr>
          <a:xfrm>
            <a:off x="548640" y="1481328"/>
            <a:ext cx="2697480" cy="854964"/>
          </a:xfrm>
          <a:prstGeom prst="rect">
            <a:avLst/>
          </a:prstGeom>
          <a:noFill/>
          <a:ln/>
        </p:spPr>
        <p:txBody>
          <a:bodyPr wrap="square" lIns="0" tIns="0" rIns="0" bIns="0" rtlCol="0" anchor="ctr"/>
          <a:lstStyle/>
          <a:p>
            <a:pPr marL="0" indent="0" algn="ctr">
              <a:buNone/>
            </a:pPr>
            <a:r>
              <a:rPr lang="en-US" sz="3000" b="1" dirty="0">
                <a:solidFill>
                  <a:srgbClr val="0A6B62"/>
                </a:solidFill>
                <a:latin typeface="Calibri" pitchFamily="34" charset="0"/>
                <a:ea typeface="Calibri" pitchFamily="34" charset="-122"/>
                <a:cs typeface="Calibri" pitchFamily="34" charset="-120"/>
              </a:rPr>
              <a:t>115</a:t>
            </a:r>
            <a:endParaRPr lang="en-US" sz="3000" dirty="0"/>
          </a:p>
        </p:txBody>
      </p:sp>
      <p:sp>
        <p:nvSpPr>
          <p:cNvPr id="6" name="Text 3"/>
          <p:cNvSpPr/>
          <p:nvPr/>
        </p:nvSpPr>
        <p:spPr>
          <a:xfrm>
            <a:off x="640080" y="2273198"/>
            <a:ext cx="2514600" cy="621792"/>
          </a:xfrm>
          <a:prstGeom prst="rect">
            <a:avLst/>
          </a:prstGeom>
          <a:noFill/>
          <a:ln/>
        </p:spPr>
        <p:txBody>
          <a:bodyPr wrap="square" lIns="0" tIns="0" rIns="0" bIns="0" rtlCol="0" anchor="ctr"/>
          <a:lstStyle/>
          <a:p>
            <a:pPr marL="0" indent="0" algn="ctr">
              <a:buNone/>
            </a:pPr>
            <a:r>
              <a:rPr lang="en-US" sz="1150" dirty="0">
                <a:solidFill>
                  <a:srgbClr val="5C6D69"/>
                </a:solidFill>
                <a:latin typeface="Calibri" pitchFamily="34" charset="0"/>
                <a:ea typeface="Calibri" pitchFamily="34" charset="-122"/>
                <a:cs typeface="Calibri" pitchFamily="34" charset="-120"/>
              </a:rPr>
              <a:t>automatiziranih testova (pytest), bez baze i bez LLM-a</a:t>
            </a:r>
            <a:endParaRPr lang="en-US" sz="1150" dirty="0"/>
          </a:p>
        </p:txBody>
      </p:sp>
      <p:sp>
        <p:nvSpPr>
          <p:cNvPr id="7" name="Shape 4"/>
          <p:cNvSpPr/>
          <p:nvPr/>
        </p:nvSpPr>
        <p:spPr>
          <a:xfrm>
            <a:off x="3401568" y="1371600"/>
            <a:ext cx="2697480" cy="1554480"/>
          </a:xfrm>
          <a:prstGeom prst="roundRect">
            <a:avLst>
              <a:gd name="adj" fmla="val 4706"/>
            </a:avLst>
          </a:prstGeom>
          <a:ln w="12700">
            <a:solidFill>
              <a:srgbClr val="F2F5F4"/>
            </a:solidFill>
            <a:prstDash val="solid"/>
          </a:ln>
        </p:spPr>
        <p:style>
          <a:lnRef idx="0">
            <a:scrgbClr r="0" g="0" b="0"/>
          </a:lnRef>
          <a:fillRef idx="1001">
            <a:schemeClr val="lt1"/>
          </a:fillRef>
          <a:effectRef idx="0">
            <a:scrgbClr r="0" g="0" b="0"/>
          </a:effectRef>
          <a:fontRef idx="major"/>
        </p:style>
      </p:sp>
      <p:sp>
        <p:nvSpPr>
          <p:cNvPr id="8" name="Text 5"/>
          <p:cNvSpPr/>
          <p:nvPr/>
        </p:nvSpPr>
        <p:spPr>
          <a:xfrm>
            <a:off x="3401568" y="1481328"/>
            <a:ext cx="2697480" cy="854964"/>
          </a:xfrm>
          <a:prstGeom prst="rect">
            <a:avLst/>
          </a:prstGeom>
          <a:noFill/>
          <a:ln/>
        </p:spPr>
        <p:txBody>
          <a:bodyPr wrap="square" lIns="0" tIns="0" rIns="0" bIns="0" rtlCol="0" anchor="ctr"/>
          <a:lstStyle/>
          <a:p>
            <a:pPr marL="0" indent="0" algn="ctr">
              <a:buNone/>
            </a:pPr>
            <a:r>
              <a:rPr lang="en-US" sz="3000" b="1" dirty="0">
                <a:solidFill>
                  <a:srgbClr val="0A6B62"/>
                </a:solidFill>
                <a:latin typeface="Calibri" pitchFamily="34" charset="0"/>
                <a:ea typeface="Calibri" pitchFamily="34" charset="-122"/>
                <a:cs typeface="Calibri" pitchFamily="34" charset="-120"/>
              </a:rPr>
              <a:t>0,751</a:t>
            </a:r>
            <a:endParaRPr lang="en-US" sz="3000" dirty="0"/>
          </a:p>
        </p:txBody>
      </p:sp>
      <p:sp>
        <p:nvSpPr>
          <p:cNvPr id="9" name="Text 6"/>
          <p:cNvSpPr/>
          <p:nvPr/>
        </p:nvSpPr>
        <p:spPr>
          <a:xfrm>
            <a:off x="3493008" y="2273198"/>
            <a:ext cx="2514600" cy="621792"/>
          </a:xfrm>
          <a:prstGeom prst="rect">
            <a:avLst/>
          </a:prstGeom>
          <a:noFill/>
          <a:ln/>
        </p:spPr>
        <p:txBody>
          <a:bodyPr wrap="square" lIns="0" tIns="0" rIns="0" bIns="0" rtlCol="0" anchor="ctr"/>
          <a:lstStyle/>
          <a:p>
            <a:pPr marL="0" indent="0" algn="ctr">
              <a:buNone/>
            </a:pPr>
            <a:r>
              <a:rPr lang="en-US" sz="1150" dirty="0">
                <a:solidFill>
                  <a:srgbClr val="5C6D69"/>
                </a:solidFill>
                <a:latin typeface="Calibri" pitchFamily="34" charset="0"/>
                <a:ea typeface="Calibri" pitchFamily="34" charset="-122"/>
                <a:cs typeface="Calibri" pitchFamily="34" charset="-120"/>
              </a:rPr>
              <a:t>nDCG@5 punog modela; samo podudaranje ciljeva 0,600</a:t>
            </a:r>
            <a:endParaRPr lang="en-US" sz="1150" dirty="0"/>
          </a:p>
        </p:txBody>
      </p:sp>
      <p:sp>
        <p:nvSpPr>
          <p:cNvPr id="10" name="Shape 7"/>
          <p:cNvSpPr/>
          <p:nvPr/>
        </p:nvSpPr>
        <p:spPr>
          <a:xfrm>
            <a:off x="6254496" y="1371600"/>
            <a:ext cx="2697480" cy="1554480"/>
          </a:xfrm>
          <a:prstGeom prst="roundRect">
            <a:avLst>
              <a:gd name="adj" fmla="val 4706"/>
            </a:avLst>
          </a:prstGeom>
          <a:ln w="12700">
            <a:solidFill>
              <a:srgbClr val="F2F5F4"/>
            </a:solidFill>
            <a:prstDash val="solid"/>
          </a:ln>
        </p:spPr>
        <p:style>
          <a:lnRef idx="0">
            <a:scrgbClr r="0" g="0" b="0"/>
          </a:lnRef>
          <a:fillRef idx="1001">
            <a:schemeClr val="lt1"/>
          </a:fillRef>
          <a:effectRef idx="0">
            <a:scrgbClr r="0" g="0" b="0"/>
          </a:effectRef>
          <a:fontRef idx="major"/>
        </p:style>
      </p:sp>
      <p:sp>
        <p:nvSpPr>
          <p:cNvPr id="11" name="Text 8"/>
          <p:cNvSpPr/>
          <p:nvPr/>
        </p:nvSpPr>
        <p:spPr>
          <a:xfrm>
            <a:off x="6254496" y="1481328"/>
            <a:ext cx="2697480" cy="854964"/>
          </a:xfrm>
          <a:prstGeom prst="rect">
            <a:avLst/>
          </a:prstGeom>
          <a:noFill/>
          <a:ln/>
        </p:spPr>
        <p:txBody>
          <a:bodyPr wrap="square" lIns="0" tIns="0" rIns="0" bIns="0" rtlCol="0" anchor="ctr"/>
          <a:lstStyle/>
          <a:p>
            <a:pPr marL="0" indent="0" algn="ctr">
              <a:buNone/>
            </a:pPr>
            <a:r>
              <a:rPr lang="en-US" sz="3000" b="1" dirty="0">
                <a:solidFill>
                  <a:srgbClr val="0A6B62"/>
                </a:solidFill>
                <a:latin typeface="Calibri" pitchFamily="34" charset="0"/>
                <a:ea typeface="Calibri" pitchFamily="34" charset="-122"/>
                <a:cs typeface="Calibri" pitchFamily="34" charset="-120"/>
              </a:rPr>
              <a:t>100%</a:t>
            </a:r>
            <a:endParaRPr lang="en-US" sz="3000" dirty="0"/>
          </a:p>
        </p:txBody>
      </p:sp>
      <p:sp>
        <p:nvSpPr>
          <p:cNvPr id="12" name="Text 9"/>
          <p:cNvSpPr/>
          <p:nvPr/>
        </p:nvSpPr>
        <p:spPr>
          <a:xfrm>
            <a:off x="6345936" y="2273198"/>
            <a:ext cx="2514600" cy="621792"/>
          </a:xfrm>
          <a:prstGeom prst="rect">
            <a:avLst/>
          </a:prstGeom>
          <a:noFill/>
          <a:ln/>
        </p:spPr>
        <p:txBody>
          <a:bodyPr wrap="square" lIns="0" tIns="0" rIns="0" bIns="0" rtlCol="0" anchor="ctr"/>
          <a:lstStyle/>
          <a:p>
            <a:pPr marL="0" indent="0" algn="ctr">
              <a:buNone/>
            </a:pPr>
            <a:r>
              <a:rPr lang="en-US" sz="1150" dirty="0">
                <a:solidFill>
                  <a:srgbClr val="5C6D69"/>
                </a:solidFill>
                <a:latin typeface="Calibri" pitchFamily="34" charset="0"/>
                <a:ea typeface="Calibri" pitchFamily="34" charset="-122"/>
                <a:cs typeface="Calibri" pitchFamily="34" charset="-120"/>
              </a:rPr>
              <a:t>F1 izdvajanja ciljeva (LLM parsiranje)</a:t>
            </a:r>
            <a:endParaRPr lang="en-US" sz="1150" dirty="0"/>
          </a:p>
        </p:txBody>
      </p:sp>
      <p:sp>
        <p:nvSpPr>
          <p:cNvPr id="13" name="Shape 10"/>
          <p:cNvSpPr/>
          <p:nvPr/>
        </p:nvSpPr>
        <p:spPr>
          <a:xfrm>
            <a:off x="9107424" y="1371600"/>
            <a:ext cx="2532888" cy="1554480"/>
          </a:xfrm>
          <a:prstGeom prst="roundRect">
            <a:avLst>
              <a:gd name="adj" fmla="val 4706"/>
            </a:avLst>
          </a:prstGeom>
          <a:ln w="12700">
            <a:solidFill>
              <a:srgbClr val="F2F5F4"/>
            </a:solidFill>
            <a:prstDash val="solid"/>
          </a:ln>
        </p:spPr>
        <p:style>
          <a:lnRef idx="0">
            <a:scrgbClr r="0" g="0" b="0"/>
          </a:lnRef>
          <a:fillRef idx="1001">
            <a:schemeClr val="lt1"/>
          </a:fillRef>
          <a:effectRef idx="0">
            <a:scrgbClr r="0" g="0" b="0"/>
          </a:effectRef>
          <a:fontRef idx="major"/>
        </p:style>
      </p:sp>
      <p:sp>
        <p:nvSpPr>
          <p:cNvPr id="14" name="Text 11"/>
          <p:cNvSpPr/>
          <p:nvPr/>
        </p:nvSpPr>
        <p:spPr>
          <a:xfrm>
            <a:off x="9107424" y="1481328"/>
            <a:ext cx="2532888" cy="854964"/>
          </a:xfrm>
          <a:prstGeom prst="rect">
            <a:avLst/>
          </a:prstGeom>
          <a:noFill/>
          <a:ln/>
        </p:spPr>
        <p:txBody>
          <a:bodyPr wrap="square" lIns="0" tIns="0" rIns="0" bIns="0" rtlCol="0" anchor="ctr"/>
          <a:lstStyle/>
          <a:p>
            <a:pPr marL="0" indent="0" algn="ctr">
              <a:buNone/>
            </a:pPr>
            <a:r>
              <a:rPr lang="en-US" sz="3000" b="1" dirty="0">
                <a:solidFill>
                  <a:srgbClr val="0A6B62"/>
                </a:solidFill>
                <a:latin typeface="Calibri" pitchFamily="34" charset="0"/>
                <a:ea typeface="Calibri" pitchFamily="34" charset="-122"/>
                <a:cs typeface="Calibri" pitchFamily="34" charset="-120"/>
              </a:rPr>
              <a:t>0,910</a:t>
            </a:r>
            <a:endParaRPr lang="en-US" sz="3000" dirty="0"/>
          </a:p>
        </p:txBody>
      </p:sp>
      <p:sp>
        <p:nvSpPr>
          <p:cNvPr id="15" name="Text 12"/>
          <p:cNvSpPr/>
          <p:nvPr/>
        </p:nvSpPr>
        <p:spPr>
          <a:xfrm>
            <a:off x="9198864" y="2273198"/>
            <a:ext cx="2350008" cy="621792"/>
          </a:xfrm>
          <a:prstGeom prst="rect">
            <a:avLst/>
          </a:prstGeom>
          <a:noFill/>
          <a:ln/>
        </p:spPr>
        <p:txBody>
          <a:bodyPr wrap="square" lIns="0" tIns="0" rIns="0" bIns="0" rtlCol="0" anchor="ctr"/>
          <a:lstStyle/>
          <a:p>
            <a:pPr marL="0" indent="0" algn="ctr">
              <a:buNone/>
            </a:pPr>
            <a:r>
              <a:rPr lang="en-US" sz="1150" dirty="0">
                <a:solidFill>
                  <a:srgbClr val="5C6D69"/>
                </a:solidFill>
                <a:latin typeface="Calibri" pitchFamily="34" charset="0"/>
                <a:ea typeface="Calibri" pitchFamily="34" charset="-122"/>
                <a:cs typeface="Calibri" pitchFamily="34" charset="-120"/>
              </a:rPr>
              <a:t>semantička točnost polja profila (14 polja)</a:t>
            </a:r>
            <a:endParaRPr lang="en-US" sz="1150" dirty="0"/>
          </a:p>
        </p:txBody>
      </p:sp>
      <p:sp>
        <p:nvSpPr>
          <p:cNvPr id="17" name="Text 14"/>
          <p:cNvSpPr/>
          <p:nvPr/>
        </p:nvSpPr>
        <p:spPr>
          <a:xfrm>
            <a:off x="749808" y="3474720"/>
            <a:ext cx="3291840" cy="365760"/>
          </a:xfrm>
          <a:prstGeom prst="rect">
            <a:avLst/>
          </a:prstGeom>
          <a:noFill/>
          <a:ln/>
        </p:spPr>
        <p:txBody>
          <a:bodyPr wrap="square" lIns="0" tIns="0" rIns="0" bIns="0" rtlCol="0" anchor="ctr"/>
          <a:lstStyle/>
          <a:p>
            <a:pPr marL="0" indent="0">
              <a:buNone/>
            </a:pPr>
            <a:r>
              <a:rPr lang="en-US" sz="1450" b="1" dirty="0">
                <a:solidFill>
                  <a:srgbClr val="0A6B62"/>
                </a:solidFill>
                <a:latin typeface="Courier New" pitchFamily="34" charset="0"/>
                <a:ea typeface="Courier New" pitchFamily="34" charset="-122"/>
                <a:cs typeface="Courier New" pitchFamily="34" charset="-120"/>
              </a:rPr>
              <a:t>ablacija</a:t>
            </a:r>
            <a:endParaRPr lang="en-US" sz="1450" dirty="0"/>
          </a:p>
        </p:txBody>
      </p:sp>
      <p:sp>
        <p:nvSpPr>
          <p:cNvPr id="18" name="Text 15"/>
          <p:cNvSpPr/>
          <p:nvPr/>
        </p:nvSpPr>
        <p:spPr>
          <a:xfrm>
            <a:off x="749808" y="3858768"/>
            <a:ext cx="3291840" cy="59436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kazne nose najviše: bez njih nDCG pada za 0,071</a:t>
            </a:r>
            <a:endParaRPr lang="en-US" sz="1200" dirty="0"/>
          </a:p>
        </p:txBody>
      </p:sp>
      <p:sp>
        <p:nvSpPr>
          <p:cNvPr id="20" name="Text 17"/>
          <p:cNvSpPr/>
          <p:nvPr/>
        </p:nvSpPr>
        <p:spPr>
          <a:xfrm>
            <a:off x="4471416" y="3474720"/>
            <a:ext cx="3291840" cy="365760"/>
          </a:xfrm>
          <a:prstGeom prst="rect">
            <a:avLst/>
          </a:prstGeom>
          <a:noFill/>
          <a:ln/>
        </p:spPr>
        <p:txBody>
          <a:bodyPr wrap="square" lIns="0" tIns="0" rIns="0" bIns="0" rtlCol="0" anchor="ctr"/>
          <a:lstStyle/>
          <a:p>
            <a:pPr marL="0" indent="0">
              <a:buNone/>
            </a:pPr>
            <a:r>
              <a:rPr lang="en-US" sz="1450" b="1" dirty="0">
                <a:solidFill>
                  <a:srgbClr val="0A6B62"/>
                </a:solidFill>
                <a:latin typeface="Courier New" pitchFamily="34" charset="0"/>
                <a:ea typeface="Courier New" pitchFamily="34" charset="-122"/>
                <a:cs typeface="Courier New" pitchFamily="34" charset="-120"/>
              </a:rPr>
              <a:t>osjetljivost</a:t>
            </a:r>
            <a:endParaRPr lang="en-US" sz="1450" dirty="0"/>
          </a:p>
        </p:txBody>
      </p:sp>
      <p:sp>
        <p:nvSpPr>
          <p:cNvPr id="21" name="Text 18"/>
          <p:cNvSpPr/>
          <p:nvPr/>
        </p:nvSpPr>
        <p:spPr>
          <a:xfrm>
            <a:off x="4471416" y="3858768"/>
            <a:ext cx="3291840" cy="59436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poredak stabilan na promjenu težina za ±1</a:t>
            </a:r>
            <a:endParaRPr lang="en-US" sz="1200" dirty="0"/>
          </a:p>
        </p:txBody>
      </p:sp>
      <p:sp>
        <p:nvSpPr>
          <p:cNvPr id="23" name="Text 20"/>
          <p:cNvSpPr/>
          <p:nvPr/>
        </p:nvSpPr>
        <p:spPr>
          <a:xfrm>
            <a:off x="8193024" y="3474720"/>
            <a:ext cx="3291840" cy="365760"/>
          </a:xfrm>
          <a:prstGeom prst="rect">
            <a:avLst/>
          </a:prstGeom>
          <a:noFill/>
          <a:ln/>
        </p:spPr>
        <p:txBody>
          <a:bodyPr wrap="square" lIns="0" tIns="0" rIns="0" bIns="0" rtlCol="0" anchor="ctr"/>
          <a:lstStyle/>
          <a:p>
            <a:pPr marL="0" indent="0">
              <a:buNone/>
            </a:pPr>
            <a:r>
              <a:rPr lang="en-US" sz="1450" b="1" dirty="0">
                <a:solidFill>
                  <a:srgbClr val="0A6B62"/>
                </a:solidFill>
                <a:latin typeface="Courier New" pitchFamily="34" charset="0"/>
                <a:ea typeface="Courier New" pitchFamily="34" charset="-122"/>
                <a:cs typeface="Courier New" pitchFamily="34" charset="-120"/>
              </a:rPr>
              <a:t>sigurnost</a:t>
            </a:r>
            <a:endParaRPr lang="en-US" sz="1450" dirty="0"/>
          </a:p>
        </p:txBody>
      </p:sp>
      <p:sp>
        <p:nvSpPr>
          <p:cNvPr id="24" name="Text 21"/>
          <p:cNvSpPr/>
          <p:nvPr/>
        </p:nvSpPr>
        <p:spPr>
          <a:xfrm>
            <a:off x="8193024" y="3858768"/>
            <a:ext cx="3291840" cy="594360"/>
          </a:xfrm>
          <a:prstGeom prst="rect">
            <a:avLst/>
          </a:prstGeom>
          <a:noFill/>
          <a:ln/>
        </p:spPr>
        <p:txBody>
          <a:bodyPr wrap="square" lIns="0" tIns="0" rIns="0" bIns="0" rtlCol="0" anchor="ctr"/>
          <a:lstStyle/>
          <a:p>
            <a:pPr marL="0" indent="0">
              <a:buNone/>
            </a:pPr>
            <a:r>
              <a:rPr lang="en-US" sz="1200" dirty="0">
                <a:solidFill>
                  <a:srgbClr val="1A2420"/>
                </a:solidFill>
                <a:latin typeface="Calibri" pitchFamily="34" charset="0"/>
                <a:ea typeface="Calibri" pitchFamily="34" charset="-122"/>
                <a:cs typeface="Calibri" pitchFamily="34" charset="-120"/>
              </a:rPr>
              <a:t>0/17 kršenja uz veto, 1/17 uz meke kazne</a:t>
            </a:r>
            <a:endParaRPr lang="en-US" sz="1200" dirty="0"/>
          </a:p>
        </p:txBody>
      </p:sp>
      <p:sp>
        <p:nvSpPr>
          <p:cNvPr id="25" name="Shape 22"/>
          <p:cNvSpPr/>
          <p:nvPr/>
        </p:nvSpPr>
        <p:spPr>
          <a:xfrm>
            <a:off x="548640" y="4892040"/>
            <a:ext cx="11091672" cy="1234440"/>
          </a:xfrm>
          <a:prstGeom prst="roundRect">
            <a:avLst>
              <a:gd name="adj" fmla="val 5926"/>
            </a:avLst>
          </a:prstGeom>
          <a:solidFill>
            <a:srgbClr val="E2F2EF"/>
          </a:solidFill>
          <a:ln w="12700">
            <a:solidFill>
              <a:srgbClr val="E2F2EF"/>
            </a:solidFill>
            <a:prstDash val="solid"/>
          </a:ln>
        </p:spPr>
      </p:sp>
      <p:sp>
        <p:nvSpPr>
          <p:cNvPr id="26" name="Text 23"/>
          <p:cNvSpPr/>
          <p:nvPr/>
        </p:nvSpPr>
        <p:spPr>
          <a:xfrm>
            <a:off x="822960" y="4892040"/>
            <a:ext cx="10515600" cy="1234440"/>
          </a:xfrm>
          <a:prstGeom prst="rect">
            <a:avLst/>
          </a:prstGeom>
          <a:noFill/>
          <a:ln/>
        </p:spPr>
        <p:txBody>
          <a:bodyPr wrap="square" lIns="0" tIns="0" rIns="0" bIns="0" rtlCol="0" anchor="ctr"/>
          <a:lstStyle/>
          <a:p>
            <a:pPr marL="0" indent="0">
              <a:buNone/>
            </a:pPr>
            <a:r>
              <a:rPr lang="en-US" sz="1350" b="1" dirty="0">
                <a:solidFill>
                  <a:srgbClr val="0A6B62"/>
                </a:solidFill>
                <a:latin typeface="Calibri" pitchFamily="34" charset="0"/>
                <a:ea typeface="Calibri" pitchFamily="34" charset="-122"/>
                <a:cs typeface="Calibri" pitchFamily="34" charset="-120"/>
              </a:rPr>
              <a:t>Evaluacija je pronašla stvarnu sigurnosnu grešku: uz meke kazne vegetarijanki je kolagen ulazio među prvih pet. Tvrdi veto ga uklanja. Skup od 34 scenarija neovisno su označila dva označivača, Cohenova κ = 0,925.</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Optimizacija i usporedba modela</a:t>
            </a:r>
            <a:endParaRPr lang="en-US" sz="3000" dirty="0"/>
          </a:p>
        </p:txBody>
      </p:sp>
      <p:graphicFrame>
        <p:nvGraphicFramePr>
          <p:cNvPr id="4" name="Chart 0"/>
          <p:cNvGraphicFramePr/>
          <p:nvPr/>
        </p:nvGraphicFramePr>
        <p:xfrm>
          <a:off x="548640" y="1325880"/>
          <a:ext cx="57607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6629400" y="1325880"/>
            <a:ext cx="5029200" cy="1463040"/>
          </a:xfrm>
          <a:prstGeom prst="roundRect">
            <a:avLst>
              <a:gd name="adj" fmla="val 5000"/>
            </a:avLst>
          </a:prstGeom>
          <a:solidFill>
            <a:srgbClr val="E2F2EF"/>
          </a:solidFill>
          <a:ln w="12700">
            <a:solidFill>
              <a:srgbClr val="E2F2EF"/>
            </a:solidFill>
            <a:prstDash val="solid"/>
          </a:ln>
        </p:spPr>
      </p:sp>
      <p:sp>
        <p:nvSpPr>
          <p:cNvPr id="6" name="Text 2"/>
          <p:cNvSpPr/>
          <p:nvPr/>
        </p:nvSpPr>
        <p:spPr>
          <a:xfrm>
            <a:off x="6858000" y="1325880"/>
            <a:ext cx="4572000" cy="1463040"/>
          </a:xfrm>
          <a:prstGeom prst="rect">
            <a:avLst/>
          </a:prstGeom>
          <a:noFill/>
          <a:ln/>
        </p:spPr>
        <p:txBody>
          <a:bodyPr wrap="square" lIns="0" tIns="0" rIns="0" bIns="0" rtlCol="0" anchor="ctr"/>
          <a:lstStyle/>
          <a:p>
            <a:pPr marL="0" indent="0">
              <a:buNone/>
            </a:pPr>
            <a:r>
              <a:rPr lang="en-US" sz="1350" b="1" dirty="0">
                <a:solidFill>
                  <a:srgbClr val="0A6B62"/>
                </a:solidFill>
                <a:latin typeface="Calibri" pitchFamily="34" charset="0"/>
                <a:ea typeface="Calibri" pitchFamily="34" charset="-122"/>
                <a:cs typeface="Calibri" pitchFamily="34" charset="-120"/>
              </a:rPr>
              <a:t>Točnost parsiranja: svi modeli s 3 B i više postižu 100 %. Qwen 2.5 3B je 2,2× brži od Llame 3 (11,9 s prema 25,6 s).</a:t>
            </a:r>
            <a:endParaRPr lang="en-US" sz="1350" dirty="0"/>
          </a:p>
        </p:txBody>
      </p:sp>
      <p:sp>
        <p:nvSpPr>
          <p:cNvPr id="7" name="Shape 3"/>
          <p:cNvSpPr/>
          <p:nvPr/>
        </p:nvSpPr>
        <p:spPr>
          <a:xfrm>
            <a:off x="6629400" y="2971800"/>
            <a:ext cx="5029200" cy="1463040"/>
          </a:xfrm>
          <a:prstGeom prst="roundRect">
            <a:avLst>
              <a:gd name="adj" fmla="val 5000"/>
            </a:avLst>
          </a:prstGeom>
          <a:solidFill>
            <a:srgbClr val="E2F2EF"/>
          </a:solidFill>
          <a:ln w="12700">
            <a:solidFill>
              <a:srgbClr val="F2F5F4"/>
            </a:solidFill>
            <a:prstDash val="solid"/>
          </a:ln>
        </p:spPr>
      </p:sp>
      <p:sp>
        <p:nvSpPr>
          <p:cNvPr id="8" name="Text 4"/>
          <p:cNvSpPr/>
          <p:nvPr/>
        </p:nvSpPr>
        <p:spPr>
          <a:xfrm>
            <a:off x="6858000" y="2971800"/>
            <a:ext cx="4572000" cy="1463040"/>
          </a:xfrm>
          <a:prstGeom prst="rect">
            <a:avLst/>
          </a:prstGeom>
          <a:noFill/>
          <a:ln/>
        </p:spPr>
        <p:txBody>
          <a:bodyPr wrap="square" lIns="0" tIns="0" rIns="0" bIns="0" rtlCol="0" anchor="ctr"/>
          <a:lstStyle/>
          <a:p>
            <a:pPr marL="0" indent="0">
              <a:buNone/>
            </a:pPr>
            <a:r>
              <a:rPr lang="en-US" sz="1350" b="1" dirty="0">
                <a:solidFill>
                  <a:srgbClr val="0A6B62"/>
                </a:solidFill>
                <a:latin typeface="Calibri" pitchFamily="34" charset="0"/>
                <a:ea typeface="Calibri" pitchFamily="34" charset="-122"/>
                <a:cs typeface="Calibri" pitchFamily="34" charset="-120"/>
              </a:rPr>
              <a:t>Premali model (1,2 B): samo 20 % točnosti polja, a nije ni pošteno brži — kvantiziran je u Q8_0, dok su ostali u Q4.</a:t>
            </a:r>
          </a:p>
        </p:txBody>
      </p:sp>
      <p:sp>
        <p:nvSpPr>
          <p:cNvPr id="9" name="Shape 5"/>
          <p:cNvSpPr/>
          <p:nvPr/>
        </p:nvSpPr>
        <p:spPr>
          <a:xfrm>
            <a:off x="571500" y="4937760"/>
            <a:ext cx="11109960" cy="1371600"/>
          </a:xfrm>
          <a:prstGeom prst="roundRect">
            <a:avLst>
              <a:gd name="adj" fmla="val 5333"/>
            </a:avLst>
          </a:prstGeom>
          <a:solidFill>
            <a:srgbClr val="E2F2EF"/>
          </a:solidFill>
          <a:ln w="12700">
            <a:solidFill>
              <a:srgbClr val="0C2925"/>
            </a:solidFill>
            <a:prstDash val="solid"/>
          </a:ln>
        </p:spPr>
      </p:sp>
      <p:sp>
        <p:nvSpPr>
          <p:cNvPr id="10" name="Text 6"/>
          <p:cNvSpPr/>
          <p:nvPr/>
        </p:nvSpPr>
        <p:spPr>
          <a:xfrm>
            <a:off x="822960" y="4892040"/>
            <a:ext cx="10607040" cy="1371600"/>
          </a:xfrm>
          <a:prstGeom prst="rect">
            <a:avLst/>
          </a:prstGeom>
          <a:noFill/>
          <a:ln/>
        </p:spPr>
        <p:txBody>
          <a:bodyPr wrap="square" lIns="0" tIns="0" rIns="0" bIns="0" rtlCol="0" anchor="ctr"/>
          <a:lstStyle/>
          <a:p>
            <a:pPr marL="0" indent="0" algn="ctr">
              <a:buNone/>
            </a:pPr>
            <a:r>
              <a:rPr lang="en-US" sz="1300" dirty="0">
                <a:solidFill>
                  <a:srgbClr val="9FBAB5"/>
                </a:solidFill>
                <a:latin typeface="Calibri" pitchFamily="34" charset="0"/>
                <a:ea typeface="Calibri" pitchFamily="34" charset="-122"/>
                <a:cs typeface="Calibri" pitchFamily="34" charset="-120"/>
              </a:rPr>
              <a:t>  </a:t>
            </a:r>
            <a:r>
              <a:rPr lang="en-US" sz="1350" b="1" dirty="0">
                <a:solidFill>
                  <a:srgbClr val="0A6B62"/>
                </a:solidFill>
                <a:latin typeface="Calibri" pitchFamily="34" charset="0"/>
                <a:ea typeface="Calibri" pitchFamily="34" charset="-122"/>
                <a:cs typeface="Calibri" pitchFamily="34" charset="-120"/>
              </a:rPr>
              <a:t>Objašnjenje jezičnim modelom   150,4 s      →   deterministički predložak   31,1 s      (</a:t>
            </a:r>
            <a:r>
              <a:rPr lang="en-US" sz="1350" b="1" dirty="0" err="1">
                <a:solidFill>
                  <a:srgbClr val="0A6B62"/>
                </a:solidFill>
                <a:latin typeface="Calibri" pitchFamily="34" charset="0"/>
                <a:ea typeface="Calibri" pitchFamily="34" charset="-122"/>
                <a:cs typeface="Calibri" pitchFamily="34" charset="-120"/>
              </a:rPr>
              <a:t>peterostruko</a:t>
            </a:r>
            <a:r>
              <a:rPr lang="en-US" sz="1350" b="1" dirty="0">
                <a:solidFill>
                  <a:srgbClr val="0A6B62"/>
                </a:solidFill>
                <a:latin typeface="Calibri" pitchFamily="34" charset="0"/>
                <a:ea typeface="Calibri" pitchFamily="34" charset="-122"/>
                <a:cs typeface="Calibri" pitchFamily="34" charset="-120"/>
              </a:rPr>
              <a:t> </a:t>
            </a:r>
            <a:r>
              <a:rPr lang="en-US" sz="1350" b="1" dirty="0" err="1">
                <a:solidFill>
                  <a:srgbClr val="0A6B62"/>
                </a:solidFill>
                <a:latin typeface="Calibri" pitchFamily="34" charset="0"/>
                <a:ea typeface="Calibri" pitchFamily="34" charset="-122"/>
                <a:cs typeface="Calibri" pitchFamily="34" charset="-120"/>
              </a:rPr>
              <a:t>brže</a:t>
            </a:r>
            <a:r>
              <a:rPr lang="en-US" sz="1350" b="1" dirty="0">
                <a:solidFill>
                  <a:srgbClr val="0A6B62"/>
                </a:solidFill>
                <a:latin typeface="Calibri" pitchFamily="34" charset="0"/>
                <a:ea typeface="Calibri" pitchFamily="34" charset="-122"/>
                <a:cs typeface="Calibri" pitchFamily="34" charset="-12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1A2420"/>
                </a:solidFill>
                <a:latin typeface="Calibri" pitchFamily="34" charset="0"/>
                <a:ea typeface="Calibri" pitchFamily="34" charset="-122"/>
                <a:cs typeface="Calibri" pitchFamily="34" charset="-120"/>
              </a:rPr>
              <a:t>Primjer rada sustava</a:t>
            </a:r>
            <a:endParaRPr lang="en-US" sz="3000" dirty="0"/>
          </a:p>
        </p:txBody>
      </p:sp>
      <p:sp>
        <p:nvSpPr>
          <p:cNvPr id="4" name="Shape 1"/>
          <p:cNvSpPr/>
          <p:nvPr/>
        </p:nvSpPr>
        <p:spPr>
          <a:xfrm>
            <a:off x="548640" y="1234440"/>
            <a:ext cx="11091672" cy="1051560"/>
          </a:xfrm>
          <a:prstGeom prst="roundRect">
            <a:avLst>
              <a:gd name="adj" fmla="val 6957"/>
            </a:avLst>
          </a:prstGeom>
          <a:solidFill>
            <a:srgbClr val="F2F5F4"/>
          </a:solidFill>
          <a:ln w="12700">
            <a:solidFill>
              <a:srgbClr val="F2F5F4"/>
            </a:solidFill>
            <a:prstDash val="solid"/>
          </a:ln>
        </p:spPr>
      </p:sp>
      <p:sp>
        <p:nvSpPr>
          <p:cNvPr id="5" name="Text 2"/>
          <p:cNvSpPr/>
          <p:nvPr/>
        </p:nvSpPr>
        <p:spPr>
          <a:xfrm>
            <a:off x="822960" y="1234440"/>
            <a:ext cx="10515600" cy="1051560"/>
          </a:xfrm>
          <a:prstGeom prst="rect">
            <a:avLst/>
          </a:prstGeom>
          <a:noFill/>
          <a:ln/>
        </p:spPr>
        <p:txBody>
          <a:bodyPr wrap="square" lIns="0" tIns="0" rIns="0" bIns="0" rtlCol="0" anchor="ctr"/>
          <a:lstStyle/>
          <a:p>
            <a:pPr marL="0" indent="0">
              <a:buNone/>
            </a:pPr>
            <a:r>
              <a:rPr lang="en-US" sz="1500" b="1" dirty="0" err="1">
                <a:solidFill>
                  <a:srgbClr val="6D4FC4"/>
                </a:solidFill>
                <a:latin typeface="Calibri" pitchFamily="34" charset="0"/>
                <a:ea typeface="Calibri" pitchFamily="34" charset="-122"/>
                <a:cs typeface="Calibri" pitchFamily="34" charset="-120"/>
              </a:rPr>
              <a:t>Profil</a:t>
            </a:r>
            <a:r>
              <a:rPr lang="en-US" sz="1500" b="1" dirty="0">
                <a:solidFill>
                  <a:srgbClr val="6D4FC4"/>
                </a:solidFill>
                <a:latin typeface="Calibri" pitchFamily="34" charset="0"/>
                <a:ea typeface="Calibri" pitchFamily="34" charset="-122"/>
                <a:cs typeface="Calibri" pitchFamily="34" charset="-120"/>
              </a:rPr>
              <a:t>:</a:t>
            </a:r>
            <a:r>
              <a:rPr lang="en-US" sz="1350" b="1" dirty="0">
                <a:solidFill>
                  <a:srgbClr val="0A6B62"/>
                </a:solidFill>
                <a:latin typeface="Calibri" pitchFamily="34" charset="0"/>
                <a:ea typeface="Calibri" pitchFamily="34" charset="-122"/>
                <a:cs typeface="Calibri" pitchFamily="34" charset="-120"/>
              </a:rPr>
              <a:t>  </a:t>
            </a:r>
            <a:r>
              <a:rPr lang="en-US" sz="1350" i="1" dirty="0">
                <a:solidFill>
                  <a:srgbClr val="1A2420"/>
                </a:solidFill>
                <a:latin typeface="Calibri" pitchFamily="34" charset="0"/>
                <a:ea typeface="Calibri" pitchFamily="34" charset="-122"/>
                <a:cs typeface="Calibri" pitchFamily="34" charset="-120"/>
              </a:rPr>
              <a:t>„23 godine, vegetarijanka, spavam ok, često pod stresom, umorna, puno kave, malo sunca.”   </a:t>
            </a:r>
            <a:r>
              <a:rPr lang="en-US" sz="1500" b="1" dirty="0">
                <a:solidFill>
                  <a:srgbClr val="6D4FC4"/>
                </a:solidFill>
                <a:latin typeface="Calibri" pitchFamily="34" charset="0"/>
                <a:ea typeface="Calibri" pitchFamily="34" charset="-122"/>
                <a:cs typeface="Calibri" pitchFamily="34" charset="-120"/>
              </a:rPr>
              <a:t>Ciljevi:</a:t>
            </a:r>
            <a:r>
              <a:rPr lang="en-US" sz="1350" b="1" dirty="0">
                <a:solidFill>
                  <a:srgbClr val="0A6B62"/>
                </a:solidFill>
                <a:latin typeface="Calibri" pitchFamily="34" charset="0"/>
                <a:ea typeface="Calibri" pitchFamily="34" charset="-122"/>
                <a:cs typeface="Calibri" pitchFamily="34" charset="-120"/>
              </a:rPr>
              <a:t>  </a:t>
            </a:r>
            <a:r>
              <a:rPr lang="en-US" sz="1350" i="1" dirty="0">
                <a:solidFill>
                  <a:srgbClr val="1A2420"/>
                </a:solidFill>
                <a:latin typeface="Calibri" pitchFamily="34" charset="0"/>
                <a:ea typeface="Calibri" pitchFamily="34" charset="-122"/>
                <a:cs typeface="Calibri" pitchFamily="34" charset="-120"/>
              </a:rPr>
              <a:t>„bolji san, više energije, manje stresa”</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2191957158"/>
              </p:ext>
            </p:extLst>
          </p:nvPr>
        </p:nvGraphicFramePr>
        <p:xfrm>
          <a:off x="548640" y="2514600"/>
          <a:ext cx="11091672" cy="2304288"/>
        </p:xfrm>
        <a:graphic>
          <a:graphicData uri="http://schemas.openxmlformats.org/drawingml/2006/table">
            <a:tbl>
              <a:tblPr/>
              <a:tblGrid>
                <a:gridCol w="777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5285232">
                  <a:extLst>
                    <a:ext uri="{9D8B030D-6E8A-4147-A177-3AD203B41FA5}">
                      <a16:colId xmlns:a16="http://schemas.microsoft.com/office/drawing/2014/main" val="20004"/>
                    </a:ext>
                  </a:extLst>
                </a:gridCol>
              </a:tblGrid>
              <a:tr h="384048">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Rang</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776A9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Dodatak</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776A9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Bodovi</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776A9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Snaga</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776A9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Glavni doprinosi</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776A9F"/>
                    </a:solidFill>
                  </a:tcPr>
                </a:tc>
                <a:extLst>
                  <a:ext uri="{0D108BD9-81ED-4DB2-BD59-A6C34878D82A}">
                    <a16:rowId xmlns:a16="http://schemas.microsoft.com/office/drawing/2014/main" val="10000"/>
                  </a:ext>
                </a:extLst>
              </a:tr>
              <a:tr h="384048">
                <a:tc>
                  <a:txBody>
                    <a:bodyPr/>
                    <a:lstStyle/>
                    <a:p>
                      <a:pPr marL="0" indent="0" algn="ctr">
                        <a:buNone/>
                      </a:pPr>
                      <a:r>
                        <a:rPr lang="en-US" sz="1250" b="1" dirty="0">
                          <a:solidFill>
                            <a:srgbClr val="1A2420"/>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buNone/>
                      </a:pPr>
                      <a:r>
                        <a:rPr lang="en-US" sz="1200" b="1" dirty="0">
                          <a:solidFill>
                            <a:srgbClr val="1A2420"/>
                          </a:solidFill>
                          <a:latin typeface="Courier New" pitchFamily="34" charset="0"/>
                          <a:ea typeface="Courier New" pitchFamily="34" charset="-122"/>
                          <a:cs typeface="Courier New" pitchFamily="34" charset="-120"/>
                        </a:rPr>
                        <a:t>b_complex</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A2420"/>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buNone/>
                      </a:pPr>
                      <a:r>
                        <a:rPr lang="en-US" sz="1200" b="1" dirty="0">
                          <a:solidFill>
                            <a:srgbClr val="1A2420"/>
                          </a:solidFill>
                          <a:latin typeface="Courier New" pitchFamily="34" charset="0"/>
                          <a:ea typeface="Courier New" pitchFamily="34" charset="-122"/>
                          <a:cs typeface="Courier New" pitchFamily="34" charset="-120"/>
                        </a:rPr>
                        <a:t>very_relevant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buNone/>
                      </a:pPr>
                      <a:r>
                        <a:rPr lang="en-US" sz="1250" dirty="0">
                          <a:solidFill>
                            <a:srgbClr val="1A2420"/>
                          </a:solidFill>
                          <a:latin typeface="Calibri" pitchFamily="34" charset="0"/>
                          <a:ea typeface="Calibri" pitchFamily="34" charset="-122"/>
                          <a:cs typeface="Calibri" pitchFamily="34" charset="-120"/>
                        </a:rPr>
                        <a:t>cilj (2) + umor (1) + fokus (2) + vegetarijanka (2)</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1250" dirty="0">
                          <a:solidFill>
                            <a:srgbClr val="1A2420"/>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tc>
                  <a:txBody>
                    <a:bodyPr/>
                    <a:lstStyle/>
                    <a:p>
                      <a:pPr marL="0" indent="0">
                        <a:buNone/>
                      </a:pPr>
                      <a:r>
                        <a:rPr lang="en-US" sz="1200" dirty="0">
                          <a:solidFill>
                            <a:srgbClr val="1A2420"/>
                          </a:solidFill>
                          <a:latin typeface="Courier New" pitchFamily="34" charset="0"/>
                          <a:ea typeface="Courier New" pitchFamily="34" charset="-122"/>
                          <a:cs typeface="Courier New" pitchFamily="34" charset="-120"/>
                        </a:rPr>
                        <a:t>l_theanine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tc>
                  <a:txBody>
                    <a:bodyPr/>
                    <a:lstStyle/>
                    <a:p>
                      <a:pPr marL="0" indent="0" algn="ctr">
                        <a:buNone/>
                      </a:pPr>
                      <a:r>
                        <a:rPr lang="en-US" sz="1250" dirty="0">
                          <a:solidFill>
                            <a:srgbClr val="1A2420"/>
                          </a:solidFill>
                          <a:latin typeface="Calibri" pitchFamily="34" charset="0"/>
                          <a:ea typeface="Calibri" pitchFamily="34" charset="-122"/>
                          <a:cs typeface="Calibri" pitchFamily="34" charset="-120"/>
                        </a:rPr>
                        <a:t>7</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tc>
                  <a:txBody>
                    <a:bodyPr/>
                    <a:lstStyle/>
                    <a:p>
                      <a:pPr marL="0" indent="0">
                        <a:buNone/>
                      </a:pPr>
                      <a:r>
                        <a:rPr lang="en-US" sz="1200" dirty="0">
                          <a:solidFill>
                            <a:srgbClr val="1A2420"/>
                          </a:solidFill>
                          <a:latin typeface="Courier New" pitchFamily="34" charset="0"/>
                          <a:ea typeface="Courier New" pitchFamily="34" charset="-122"/>
                          <a:cs typeface="Courier New" pitchFamily="34" charset="-120"/>
                        </a:rPr>
                        <a:t>very_relevant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tc>
                  <a:txBody>
                    <a:bodyPr/>
                    <a:lstStyle/>
                    <a:p>
                      <a:pPr marL="0" indent="0">
                        <a:buNone/>
                      </a:pPr>
                      <a:r>
                        <a:rPr lang="en-US" sz="1250" dirty="0">
                          <a:solidFill>
                            <a:srgbClr val="1A2420"/>
                          </a:solidFill>
                          <a:latin typeface="Calibri" pitchFamily="34" charset="0"/>
                          <a:ea typeface="Calibri" pitchFamily="34" charset="-122"/>
                          <a:cs typeface="Calibri" pitchFamily="34" charset="-120"/>
                        </a:rPr>
                        <a:t>cilj (2) + stres (1) + fokus (2) + kofein (2)</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extLst>
                  <a:ext uri="{0D108BD9-81ED-4DB2-BD59-A6C34878D82A}">
                    <a16:rowId xmlns:a16="http://schemas.microsoft.com/office/drawing/2014/main" val="10002"/>
                  </a:ext>
                </a:extLst>
              </a:tr>
              <a:tr h="384048">
                <a:tc>
                  <a:txBody>
                    <a:bodyPr/>
                    <a:lstStyle/>
                    <a:p>
                      <a:pPr marL="0" indent="0" algn="ctr">
                        <a:buNone/>
                      </a:pPr>
                      <a:r>
                        <a:rPr lang="en-US" sz="1250" dirty="0">
                          <a:solidFill>
                            <a:srgbClr val="1A2420"/>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buNone/>
                      </a:pPr>
                      <a:r>
                        <a:rPr lang="en-US" sz="1200" dirty="0">
                          <a:solidFill>
                            <a:srgbClr val="1A2420"/>
                          </a:solidFill>
                          <a:latin typeface="Courier New" pitchFamily="34" charset="0"/>
                          <a:ea typeface="Courier New" pitchFamily="34" charset="-122"/>
                          <a:cs typeface="Courier New" pitchFamily="34" charset="-120"/>
                        </a:rPr>
                        <a:t>ashwagandha</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420"/>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buNone/>
                      </a:pPr>
                      <a:r>
                        <a:rPr lang="en-US" sz="1200" dirty="0">
                          <a:solidFill>
                            <a:srgbClr val="1A2420"/>
                          </a:solidFill>
                          <a:latin typeface="Courier New" pitchFamily="34" charset="0"/>
                          <a:ea typeface="Courier New" pitchFamily="34" charset="-122"/>
                          <a:cs typeface="Courier New" pitchFamily="34" charset="-120"/>
                        </a:rPr>
                        <a:t>good</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buNone/>
                      </a:pPr>
                      <a:r>
                        <a:rPr lang="en-US" sz="1250" dirty="0">
                          <a:solidFill>
                            <a:srgbClr val="1A2420"/>
                          </a:solidFill>
                          <a:latin typeface="Calibri" pitchFamily="34" charset="0"/>
                          <a:ea typeface="Calibri" pitchFamily="34" charset="-122"/>
                          <a:cs typeface="Calibri" pitchFamily="34" charset="-120"/>
                        </a:rPr>
                        <a:t>2 cilja (4) + stres (1) + fokus (1)</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1250" dirty="0">
                          <a:solidFill>
                            <a:srgbClr val="1A2420"/>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tc>
                  <a:txBody>
                    <a:bodyPr/>
                    <a:lstStyle/>
                    <a:p>
                      <a:pPr marL="0" indent="0">
                        <a:buNone/>
                      </a:pPr>
                      <a:r>
                        <a:rPr lang="en-US" sz="1200" dirty="0">
                          <a:solidFill>
                            <a:srgbClr val="1A2420"/>
                          </a:solidFill>
                          <a:latin typeface="Courier New" pitchFamily="34" charset="0"/>
                          <a:ea typeface="Courier New" pitchFamily="34" charset="-122"/>
                          <a:cs typeface="Courier New" pitchFamily="34" charset="-120"/>
                        </a:rPr>
                        <a:t>magnesium_glycinate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tc>
                  <a:txBody>
                    <a:bodyPr/>
                    <a:lstStyle/>
                    <a:p>
                      <a:pPr marL="0" indent="0" algn="ctr">
                        <a:buNone/>
                      </a:pPr>
                      <a:r>
                        <a:rPr lang="en-US" sz="1250" dirty="0">
                          <a:solidFill>
                            <a:srgbClr val="1A2420"/>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tc>
                  <a:txBody>
                    <a:bodyPr/>
                    <a:lstStyle/>
                    <a:p>
                      <a:pPr marL="0" indent="0">
                        <a:buNone/>
                      </a:pPr>
                      <a:r>
                        <a:rPr lang="en-US" sz="1200" dirty="0">
                          <a:solidFill>
                            <a:srgbClr val="1A2420"/>
                          </a:solidFill>
                          <a:latin typeface="Courier New" pitchFamily="34" charset="0"/>
                          <a:ea typeface="Courier New" pitchFamily="34" charset="-122"/>
                          <a:cs typeface="Courier New" pitchFamily="34" charset="-120"/>
                        </a:rPr>
                        <a:t>good</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tc>
                  <a:txBody>
                    <a:bodyPr/>
                    <a:lstStyle/>
                    <a:p>
                      <a:pPr marL="0" indent="0">
                        <a:buNone/>
                      </a:pPr>
                      <a:r>
                        <a:rPr lang="en-US" sz="1250" dirty="0">
                          <a:solidFill>
                            <a:srgbClr val="1A2420"/>
                          </a:solidFill>
                          <a:latin typeface="Calibri" pitchFamily="34" charset="0"/>
                          <a:ea typeface="Calibri" pitchFamily="34" charset="-122"/>
                          <a:cs typeface="Calibri" pitchFamily="34" charset="-120"/>
                        </a:rPr>
                        <a:t>2 cilja (4) + stres (1) + kofein (1)</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7FAF9"/>
                    </a:solidFill>
                  </a:tcPr>
                </a:tc>
                <a:extLst>
                  <a:ext uri="{0D108BD9-81ED-4DB2-BD59-A6C34878D82A}">
                    <a16:rowId xmlns:a16="http://schemas.microsoft.com/office/drawing/2014/main" val="10004"/>
                  </a:ext>
                </a:extLst>
              </a:tr>
              <a:tr h="384048">
                <a:tc>
                  <a:txBody>
                    <a:bodyPr/>
                    <a:lstStyle/>
                    <a:p>
                      <a:pPr marL="0" indent="0" algn="ctr">
                        <a:buNone/>
                      </a:pPr>
                      <a:r>
                        <a:rPr lang="en-US" sz="1250" dirty="0">
                          <a:solidFill>
                            <a:srgbClr val="1A2420"/>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buNone/>
                      </a:pPr>
                      <a:r>
                        <a:rPr lang="en-US" sz="1200" dirty="0">
                          <a:solidFill>
                            <a:srgbClr val="1A2420"/>
                          </a:solidFill>
                          <a:latin typeface="Courier New" pitchFamily="34" charset="0"/>
                          <a:ea typeface="Courier New" pitchFamily="34" charset="-122"/>
                          <a:cs typeface="Courier New" pitchFamily="34" charset="-120"/>
                        </a:rPr>
                        <a:t>vitamin_b12</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A2420"/>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buNone/>
                      </a:pPr>
                      <a:r>
                        <a:rPr lang="en-US" sz="1200" dirty="0">
                          <a:solidFill>
                            <a:srgbClr val="1A2420"/>
                          </a:solidFill>
                          <a:latin typeface="Courier New" pitchFamily="34" charset="0"/>
                          <a:ea typeface="Courier New" pitchFamily="34" charset="-122"/>
                          <a:cs typeface="Courier New" pitchFamily="34" charset="-120"/>
                        </a:rPr>
                        <a:t>good</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tc>
                  <a:txBody>
                    <a:bodyPr/>
                    <a:lstStyle/>
                    <a:p>
                      <a:pPr marL="0" indent="0">
                        <a:buNone/>
                      </a:pPr>
                      <a:r>
                        <a:rPr lang="en-US" sz="1250" dirty="0">
                          <a:solidFill>
                            <a:srgbClr val="1A2420"/>
                          </a:solidFill>
                          <a:latin typeface="Calibri" pitchFamily="34" charset="0"/>
                          <a:ea typeface="Calibri" pitchFamily="34" charset="-122"/>
                          <a:cs typeface="Calibri" pitchFamily="34" charset="-120"/>
                        </a:rPr>
                        <a:t>cilj (2) + fokus (2) + vegetarijanka (2)</a:t>
                      </a:r>
                      <a:endParaRPr lang="en-US" sz="1250" dirty="0">
                        <a:latin typeface="Calibri" charset="0"/>
                        <a:ea typeface="Calibri" charset="0"/>
                        <a:cs typeface="Calibri" charset="0"/>
                      </a:endParaRPr>
                    </a:p>
                  </a:txBody>
                  <a:tcPr marL="54864" marR="54864" marT="54864" marB="54864"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p:nvPr/>
        </p:nvSpPr>
        <p:spPr>
          <a:xfrm>
            <a:off x="548640" y="5532120"/>
            <a:ext cx="11091672" cy="822960"/>
          </a:xfrm>
          <a:prstGeom prst="rect">
            <a:avLst/>
          </a:prstGeom>
          <a:noFill/>
          <a:ln/>
        </p:spPr>
        <p:txBody>
          <a:bodyPr wrap="square" lIns="0" tIns="0" rIns="0" bIns="0" rtlCol="0" anchor="ctr"/>
          <a:lstStyle/>
          <a:p>
            <a:pPr marL="0" indent="0">
              <a:buNone/>
            </a:pPr>
            <a:r>
              <a:rPr lang="en-US" sz="1500" b="1" dirty="0">
                <a:solidFill>
                  <a:srgbClr val="6D4FC4"/>
                </a:solidFill>
                <a:latin typeface="Calibri" pitchFamily="34" charset="0"/>
                <a:ea typeface="Calibri" pitchFamily="34" charset="-122"/>
                <a:cs typeface="Calibri" pitchFamily="34" charset="-120"/>
              </a:rPr>
              <a:t>B-</a:t>
            </a:r>
            <a:r>
              <a:rPr lang="en-US" sz="1500" b="1" dirty="0" err="1">
                <a:solidFill>
                  <a:srgbClr val="6D4FC4"/>
                </a:solidFill>
                <a:latin typeface="Calibri" pitchFamily="34" charset="0"/>
                <a:ea typeface="Calibri" pitchFamily="34" charset="-122"/>
                <a:cs typeface="Calibri" pitchFamily="34" charset="-120"/>
              </a:rPr>
              <a:t>kompleks</a:t>
            </a:r>
            <a:r>
              <a:rPr lang="en-US" sz="1500" b="1" dirty="0">
                <a:solidFill>
                  <a:srgbClr val="6D4FC4"/>
                </a:solidFill>
                <a:latin typeface="Calibri" pitchFamily="34" charset="0"/>
                <a:ea typeface="Calibri" pitchFamily="34" charset="-122"/>
                <a:cs typeface="Calibri" pitchFamily="34" charset="-120"/>
              </a:rPr>
              <a:t> i L-teanin dijele prvo mjesto sa sedam bodova, a među njima odlučuje naziv dodatka. L-teanin pogađa samo jedan cilj, ali konkretno stanje nosi više dokaza od same deklaracije cilja. Magnezij je niže jer san nije loš, nego </a:t>
            </a:r>
            <a:r>
              <a:rPr lang="en-US" sz="1500" b="1" dirty="0" err="1">
                <a:solidFill>
                  <a:srgbClr val="6D4FC4"/>
                </a:solidFill>
                <a:latin typeface="Calibri" pitchFamily="34" charset="0"/>
                <a:ea typeface="Calibri" pitchFamily="34" charset="-122"/>
                <a:cs typeface="Calibri" pitchFamily="34" charset="-120"/>
              </a:rPr>
              <a:t>osrednji</a:t>
            </a:r>
            <a:r>
              <a:rPr lang="en-US" sz="1500" b="1" dirty="0">
                <a:solidFill>
                  <a:srgbClr val="6D4FC4"/>
                </a:solidFill>
                <a:latin typeface="Calibri" pitchFamily="34" charset="0"/>
                <a:ea typeface="Calibri" pitchFamily="34" charset="-122"/>
                <a:cs typeface="Calibri" pitchFamily="34" charset="-12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2925"/>
        </a:solidFill>
        <a:effectLst/>
      </p:bgPr>
    </p:bg>
    <p:spTree>
      <p:nvGrpSpPr>
        <p:cNvPr id="1" name=""/>
        <p:cNvGrpSpPr/>
        <p:nvPr/>
      </p:nvGrpSpPr>
      <p:grpSpPr>
        <a:xfrm>
          <a:off x="0" y="0"/>
          <a:ext cx="0" cy="0"/>
          <a:chOff x="0" y="0"/>
          <a:chExt cx="0" cy="0"/>
        </a:xfrm>
      </p:grpSpPr>
      <p:sp>
        <p:nvSpPr>
          <p:cNvPr id="3" name="Text 0"/>
          <p:cNvSpPr/>
          <p:nvPr/>
        </p:nvSpPr>
        <p:spPr>
          <a:xfrm>
            <a:off x="548640" y="320040"/>
            <a:ext cx="11091672" cy="68580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Zaključak</a:t>
            </a:r>
            <a:endParaRPr lang="en-US" sz="3000" dirty="0"/>
          </a:p>
        </p:txBody>
      </p:sp>
      <p:sp>
        <p:nvSpPr>
          <p:cNvPr id="4" name="Text 1"/>
          <p:cNvSpPr/>
          <p:nvPr/>
        </p:nvSpPr>
        <p:spPr>
          <a:xfrm>
            <a:off x="822960" y="1371600"/>
            <a:ext cx="10515600" cy="2743200"/>
          </a:xfrm>
          <a:prstGeom prst="rect">
            <a:avLst/>
          </a:prstGeom>
          <a:noFill/>
          <a:ln/>
        </p:spPr>
        <p:txBody>
          <a:bodyPr wrap="square" lIns="0" tIns="0" rIns="0" bIns="0" rtlCol="0" anchor="ctr"/>
          <a:lstStyle/>
          <a:p>
            <a:pPr marL="177800" indent="-1778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Izgrađen cjelovit backend sustav — svi funkcionalni zahtjevi ostvareni</a:t>
            </a:r>
            <a:endParaRPr lang="en-US" sz="1700" dirty="0"/>
          </a:p>
          <a:p>
            <a:pPr marL="177800" indent="-1778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LLM na rubu sustava (jezik), deterministička jezgra (odluka)</a:t>
            </a:r>
            <a:endParaRPr lang="en-US" sz="1700" dirty="0"/>
          </a:p>
          <a:p>
            <a:pPr marL="177800" indent="-1778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Mjerljivi rezultati: nDCG@5 0,751 prema 0,600 za podudaranje ciljeva, 0 % kršenja ograničenja, 115 testova</a:t>
            </a:r>
            <a:endParaRPr lang="en-US" sz="1700" dirty="0"/>
          </a:p>
          <a:p>
            <a:pPr marL="177800" indent="-177800">
              <a:buSzPct val="100000"/>
              <a:buChar char="•"/>
            </a:pPr>
            <a:r>
              <a:rPr lang="en-US" sz="1700" dirty="0">
                <a:solidFill>
                  <a:srgbClr val="FFFFFF"/>
                </a:solidFill>
                <a:latin typeface="Calibri" pitchFamily="34" charset="0"/>
                <a:ea typeface="Calibri" pitchFamily="34" charset="-122"/>
                <a:cs typeface="Calibri" pitchFamily="34" charset="-120"/>
              </a:rPr>
              <a:t>Privatnost: lokalno izvršavanje, bez pohrane korisničkih podataka</a:t>
            </a:r>
            <a:endParaRPr lang="en-US" sz="1700" dirty="0"/>
          </a:p>
        </p:txBody>
      </p:sp>
      <p:sp>
        <p:nvSpPr>
          <p:cNvPr id="5" name="Shape 2"/>
          <p:cNvSpPr/>
          <p:nvPr/>
        </p:nvSpPr>
        <p:spPr>
          <a:xfrm>
            <a:off x="822960" y="4343400"/>
            <a:ext cx="10515600" cy="914400"/>
          </a:xfrm>
          <a:prstGeom prst="roundRect">
            <a:avLst>
              <a:gd name="adj" fmla="val 8000"/>
            </a:avLst>
          </a:prstGeom>
          <a:solidFill>
            <a:srgbClr val="123B35"/>
          </a:solidFill>
          <a:ln w="12700">
            <a:solidFill>
              <a:srgbClr val="123B35"/>
            </a:solidFill>
            <a:prstDash val="solid"/>
          </a:ln>
        </p:spPr>
      </p:sp>
      <p:sp>
        <p:nvSpPr>
          <p:cNvPr id="6" name="Text 3"/>
          <p:cNvSpPr/>
          <p:nvPr/>
        </p:nvSpPr>
        <p:spPr>
          <a:xfrm>
            <a:off x="1097280" y="4343400"/>
            <a:ext cx="9966960" cy="914400"/>
          </a:xfrm>
          <a:prstGeom prst="rect">
            <a:avLst/>
          </a:prstGeom>
          <a:noFill/>
          <a:ln/>
        </p:spPr>
        <p:txBody>
          <a:bodyPr wrap="square" lIns="0" tIns="0" rIns="0" bIns="0" rtlCol="0" anchor="ctr"/>
          <a:lstStyle/>
          <a:p>
            <a:pPr marL="177800" indent="-1778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U osjetljivim domenama jezične modele treba držati na rubu </a:t>
            </a:r>
            <a:r>
              <a:rPr lang="en-US" sz="1700" dirty="0" err="1">
                <a:solidFill>
                  <a:srgbClr val="FFFFFF"/>
                </a:solidFill>
                <a:latin typeface="Calibri" pitchFamily="34" charset="0"/>
                <a:ea typeface="Calibri" pitchFamily="34" charset="-122"/>
                <a:cs typeface="Calibri" pitchFamily="34" charset="-120"/>
              </a:rPr>
              <a:t>sustava</a:t>
            </a:r>
            <a:r>
              <a:rPr lang="en-US" sz="1700" dirty="0">
                <a:solidFill>
                  <a:srgbClr val="FFFFFF"/>
                </a:solidFill>
                <a:latin typeface="Calibri" pitchFamily="34" charset="0"/>
                <a:ea typeface="Calibri" pitchFamily="34" charset="-122"/>
                <a:cs typeface="Calibri" pitchFamily="34" charset="-120"/>
              </a:rPr>
              <a:t> - jezgra odlučivanja mora ostati deterministička i </a:t>
            </a:r>
            <a:r>
              <a:rPr lang="en-US" sz="1700" dirty="0" err="1">
                <a:solidFill>
                  <a:srgbClr val="FFFFFF"/>
                </a:solidFill>
                <a:latin typeface="Calibri" pitchFamily="34" charset="0"/>
                <a:ea typeface="Calibri" pitchFamily="34" charset="-122"/>
                <a:cs typeface="Calibri" pitchFamily="34" charset="-120"/>
              </a:rPr>
              <a:t>objašnjiva</a:t>
            </a:r>
            <a:r>
              <a:rPr lang="en-US" sz="1700" dirty="0">
                <a:solidFill>
                  <a:srgbClr val="FFFFFF"/>
                </a:solidFill>
                <a:latin typeface="Calibri" pitchFamily="34" charset="0"/>
                <a:ea typeface="Calibri" pitchFamily="34" charset="-122"/>
                <a:cs typeface="Calibri" pitchFamily="34" charset="-120"/>
              </a:rPr>
              <a:t>.</a:t>
            </a:r>
          </a:p>
        </p:txBody>
      </p:sp>
      <p:sp>
        <p:nvSpPr>
          <p:cNvPr id="7" name="Text 4"/>
          <p:cNvSpPr/>
          <p:nvPr/>
        </p:nvSpPr>
        <p:spPr>
          <a:xfrm>
            <a:off x="836676" y="5577840"/>
            <a:ext cx="10515600" cy="45720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Ograničenja: interakcije s lijekovima i gornje granice unosa nisu modelirani, baza ima 35 dodataka. </a:t>
            </a:r>
          </a:p>
        </p:txBody>
      </p:sp>
      <p:pic>
        <p:nvPicPr>
          <p:cNvPr id="2" name="Picture 1">
            <a:extLst>
              <a:ext uri="{FF2B5EF4-FFF2-40B4-BE49-F238E27FC236}">
                <a16:creationId xmlns:a16="http://schemas.microsoft.com/office/drawing/2014/main" id="{1F5618F9-BA8C-4348-8E1E-C5BCCE8502C0}"/>
              </a:ext>
            </a:extLst>
          </p:cNvPr>
          <p:cNvPicPr>
            <a:picLocks noChangeAspect="1"/>
          </p:cNvPicPr>
          <p:nvPr/>
        </p:nvPicPr>
        <p:blipFill>
          <a:blip r:embed="rId3"/>
          <a:stretch>
            <a:fillRect/>
          </a:stretch>
        </p:blipFill>
        <p:spPr>
          <a:xfrm>
            <a:off x="548640" y="1097260"/>
            <a:ext cx="457240" cy="457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776A9F"/>
        </a:solidFill>
        <a:effectLst/>
      </p:bgPr>
    </p:bg>
    <p:spTree>
      <p:nvGrpSpPr>
        <p:cNvPr id="1" name=""/>
        <p:cNvGrpSpPr/>
        <p:nvPr/>
      </p:nvGrpSpPr>
      <p:grpSpPr>
        <a:xfrm>
          <a:off x="0" y="0"/>
          <a:ext cx="0" cy="0"/>
          <a:chOff x="0" y="0"/>
          <a:chExt cx="0" cy="0"/>
        </a:xfrm>
      </p:grpSpPr>
      <p:sp>
        <p:nvSpPr>
          <p:cNvPr id="4" name="Shape 1"/>
          <p:cNvSpPr/>
          <p:nvPr/>
        </p:nvSpPr>
        <p:spPr>
          <a:xfrm>
            <a:off x="3673276" y="2834640"/>
            <a:ext cx="457200" cy="457200"/>
          </a:xfrm>
          <a:prstGeom prst="roundRect">
            <a:avLst>
              <a:gd name="adj" fmla="val 20000"/>
            </a:avLst>
          </a:prstGeom>
          <a:solidFill>
            <a:srgbClr val="6D4FC4"/>
          </a:solidFill>
          <a:ln/>
        </p:spPr>
      </p:sp>
      <p:sp>
        <p:nvSpPr>
          <p:cNvPr id="5" name="Text 2"/>
          <p:cNvSpPr/>
          <p:nvPr/>
        </p:nvSpPr>
        <p:spPr>
          <a:xfrm>
            <a:off x="914400" y="2651760"/>
            <a:ext cx="10360152"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Hvala na pažnji!</a:t>
            </a:r>
            <a:endParaRPr lang="en-US" sz="4000" dirty="0"/>
          </a:p>
        </p:txBody>
      </p:sp>
      <p:sp>
        <p:nvSpPr>
          <p:cNvPr id="6" name="Text 3"/>
          <p:cNvSpPr/>
          <p:nvPr/>
        </p:nvSpPr>
        <p:spPr>
          <a:xfrm>
            <a:off x="914400" y="3611880"/>
            <a:ext cx="10360152" cy="548640"/>
          </a:xfrm>
          <a:prstGeom prst="rect">
            <a:avLst/>
          </a:prstGeom>
          <a:noFill/>
          <a:ln/>
        </p:spPr>
        <p:txBody>
          <a:bodyPr wrap="square" lIns="0" tIns="0" rIns="0" bIns="0" rtlCol="0" anchor="ctr"/>
          <a:lstStyle/>
          <a:p>
            <a:pPr marL="0" indent="0" algn="ctr">
              <a:buNone/>
            </a:pPr>
            <a:r>
              <a:rPr lang="en-US" sz="2200" dirty="0">
                <a:solidFill>
                  <a:schemeClr val="bg1"/>
                </a:solidFill>
                <a:latin typeface="Calibri" pitchFamily="34" charset="0"/>
                <a:ea typeface="Calibri" pitchFamily="34" charset="-122"/>
                <a:cs typeface="Calibri" pitchFamily="34" charset="-120"/>
              </a:rPr>
              <a:t>Pitanja?</a:t>
            </a:r>
            <a:endParaRPr lang="en-US" sz="2200" dirty="0">
              <a:solidFill>
                <a:schemeClr val="bg1"/>
              </a:solidFill>
            </a:endParaRPr>
          </a:p>
        </p:txBody>
      </p:sp>
      <p:sp>
        <p:nvSpPr>
          <p:cNvPr id="7" name="Text 4"/>
          <p:cNvSpPr/>
          <p:nvPr/>
        </p:nvSpPr>
        <p:spPr>
          <a:xfrm>
            <a:off x="914400" y="4663440"/>
            <a:ext cx="10360152" cy="411480"/>
          </a:xfrm>
          <a:prstGeom prst="rect">
            <a:avLst/>
          </a:prstGeom>
          <a:noFill/>
          <a:ln/>
        </p:spPr>
        <p:txBody>
          <a:bodyPr wrap="square" lIns="0" tIns="0" rIns="0" bIns="0" rtlCol="0" anchor="ctr"/>
          <a:lstStyle/>
          <a:p>
            <a:pPr marL="0" indent="0" algn="ctr">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2762</Words>
  <Application>Microsoft Office PowerPoint</Application>
  <PresentationFormat>Widescreen</PresentationFormat>
  <Paragraphs>209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Korisnik</cp:lastModifiedBy>
  <cp:revision>14</cp:revision>
  <dcterms:created xsi:type="dcterms:W3CDTF">2026-07-19T15:29:43Z</dcterms:created>
  <dcterms:modified xsi:type="dcterms:W3CDTF">2026-08-31T12:28:57Z</dcterms:modified>
</cp:coreProperties>
</file>